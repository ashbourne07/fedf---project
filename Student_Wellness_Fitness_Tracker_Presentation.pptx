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86" r:id="rId2"/>
    <p:sldId id="260" r:id="rId3"/>
    <p:sldId id="328" r:id="rId4"/>
    <p:sldId id="278" r:id="rId5"/>
    <p:sldId id="257" r:id="rId6"/>
    <p:sldId id="321" r:id="rId7"/>
    <p:sldId id="326" r:id="rId8"/>
    <p:sldId id="322" r:id="rId9"/>
    <p:sldId id="323" r:id="rId10"/>
    <p:sldId id="324" r:id="rId11"/>
    <p:sldId id="277" r:id="rId12"/>
    <p:sldId id="320" r:id="rId13"/>
    <p:sldId id="327" r:id="rId1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8" autoAdjust="0"/>
    <p:restoredTop sz="94660"/>
  </p:normalViewPr>
  <p:slideViewPr>
    <p:cSldViewPr>
      <p:cViewPr varScale="1">
        <p:scale>
          <a:sx n="84" d="100"/>
          <a:sy n="84" d="100"/>
        </p:scale>
        <p:origin x="145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6/16/2026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6/16/2026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Student Wellness &amp; Fitness Tracker</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  V. Hasith Varma                       roll no. – 2520090125</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 G. Anirudh                                roll no. – 2520080058</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12</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Ms. D. Pavithra</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20000"/>
          </a:bodyPr>
          <a:lstStyle/>
          <a:p>
            <a:r>
              <a:rPr lang="en-US" dirty="0">
                <a:latin typeface="Times New Roman" pitchFamily="18" charset="0"/>
                <a:cs typeface="Times New Roman" pitchFamily="18" charset="0"/>
              </a:rPr>
              <a:t>Project Mapping to COs</a:t>
            </a:r>
          </a:p>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B889F-FAB5-399E-734B-DC892B00D220}"/>
              </a:ext>
            </a:extLst>
          </p:cNvPr>
          <p:cNvSpPr>
            <a:spLocks noGrp="1"/>
          </p:cNvSpPr>
          <p:nvPr>
            <p:ph type="title"/>
          </p:nvPr>
        </p:nvSpPr>
        <p:spPr/>
        <p:txBody>
          <a:bodyPr>
            <a:normAutofit fontScale="90000"/>
          </a:bodyPr>
          <a:lstStyle/>
          <a:p>
            <a:r>
              <a:rPr lang="en-US" sz="3300" b="1" dirty="0">
                <a:solidFill>
                  <a:srgbClr val="0070C0"/>
                </a:solidFill>
                <a:latin typeface="Times New Roman" pitchFamily="18" charset="0"/>
                <a:cs typeface="Times New Roman" pitchFamily="18" charset="0"/>
              </a:rPr>
              <a:t>Project Mapping to Course Outcomes (Cos)</a:t>
            </a:r>
            <a:br>
              <a:rPr lang="en-US" dirty="0"/>
            </a:br>
            <a:endParaRPr lang="en-IN" dirty="0"/>
          </a:p>
        </p:txBody>
      </p:sp>
      <p:sp>
        <p:nvSpPr>
          <p:cNvPr id="3" name="Content Placeholder 2">
            <a:extLst>
              <a:ext uri="{FF2B5EF4-FFF2-40B4-BE49-F238E27FC236}">
                <a16:creationId xmlns:a16="http://schemas.microsoft.com/office/drawing/2014/main" id="{AA62BE17-498A-A4E5-B33A-A83C807177C2}"/>
              </a:ext>
            </a:extLst>
          </p:cNvPr>
          <p:cNvSpPr>
            <a:spLocks noGrp="1"/>
          </p:cNvSpPr>
          <p:nvPr>
            <p:ph idx="1"/>
          </p:nvPr>
        </p:nvSpPr>
        <p:spPr>
          <a:xfrm>
            <a:off x="457200" y="1066800"/>
            <a:ext cx="8229600" cy="5333999"/>
          </a:xfrm>
        </p:spPr>
        <p:txBody>
          <a:bodyPr>
            <a:normAutofit fontScale="55000" lnSpcReduction="20000"/>
          </a:bodyPr>
          <a:lstStyle/>
          <a:p>
            <a:r>
              <a:rPr lang="en-IN" b="1" dirty="0"/>
              <a:t>CO1: Foundations of Front-End Engineering</a:t>
            </a:r>
          </a:p>
          <a:p>
            <a:pPr marL="457200" lvl="1" indent="0">
              <a:buNone/>
            </a:pPr>
            <a:r>
              <a:rPr lang="en-IN" dirty="0"/>
              <a:t>Project Part: Declarative UI and Component-driven architecture using React (breaking the dashboard into modular widgets and cards).</a:t>
            </a:r>
          </a:p>
          <a:p>
            <a:pPr lvl="1"/>
            <a:endParaRPr lang="en-IN" dirty="0"/>
          </a:p>
          <a:p>
            <a:r>
              <a:rPr lang="en-IN" b="1" dirty="0"/>
              <a:t>CO2: JavaScript Engineering for Frameworks</a:t>
            </a:r>
          </a:p>
          <a:p>
            <a:pPr marL="457200" lvl="1" indent="0">
              <a:buNone/>
            </a:pPr>
            <a:r>
              <a:rPr lang="en-IN" dirty="0"/>
              <a:t>Project Part: ES6+ modules, functional programming (map, filter, reduce for analytics), and structured front-end codebase (/pages, /context, /utils).</a:t>
            </a:r>
          </a:p>
          <a:p>
            <a:pPr lvl="1"/>
            <a:endParaRPr lang="en-IN" dirty="0"/>
          </a:p>
          <a:p>
            <a:r>
              <a:rPr lang="en-IN" b="1" dirty="0"/>
              <a:t>CO3: React Component Model &amp; Styling</a:t>
            </a:r>
          </a:p>
          <a:p>
            <a:pPr marL="457200" lvl="1" indent="0">
              <a:buNone/>
            </a:pPr>
            <a:r>
              <a:rPr lang="en-IN" dirty="0"/>
              <a:t>Project Part: Managing local component state (</a:t>
            </a:r>
            <a:r>
              <a:rPr lang="en-IN" dirty="0" err="1"/>
              <a:t>useState</a:t>
            </a:r>
            <a:r>
              <a:rPr lang="en-IN" dirty="0"/>
              <a:t>), reusable components (Recharts wrappers, stat cards), and implementing Tailwind CSS v4 for styling and theming.</a:t>
            </a:r>
          </a:p>
          <a:p>
            <a:pPr lvl="1"/>
            <a:endParaRPr lang="en-IN" dirty="0"/>
          </a:p>
          <a:p>
            <a:r>
              <a:rPr lang="en-IN" b="1" dirty="0"/>
              <a:t>CO4: State Architecture</a:t>
            </a:r>
          </a:p>
          <a:p>
            <a:pPr marL="457200" lvl="1" indent="0">
              <a:buNone/>
            </a:pPr>
            <a:r>
              <a:rPr lang="en-IN" dirty="0"/>
              <a:t>Project Part: Global state management utilizing React Context API (</a:t>
            </a:r>
            <a:r>
              <a:rPr lang="en-IN" dirty="0" err="1"/>
              <a:t>WellnessContext</a:t>
            </a:r>
            <a:r>
              <a:rPr lang="en-IN" dirty="0"/>
              <a:t>, </a:t>
            </a:r>
            <a:r>
              <a:rPr lang="en-IN" dirty="0" err="1"/>
              <a:t>AuthContext</a:t>
            </a:r>
            <a:r>
              <a:rPr lang="en-IN" dirty="0"/>
              <a:t>) for tracking activities, goals, and user sessions.</a:t>
            </a:r>
          </a:p>
          <a:p>
            <a:pPr lvl="1"/>
            <a:endParaRPr lang="en-IN" dirty="0"/>
          </a:p>
          <a:p>
            <a:r>
              <a:rPr lang="en-IN" b="1" dirty="0"/>
              <a:t>CO5: Routing, Forms &amp; Performance</a:t>
            </a:r>
          </a:p>
          <a:p>
            <a:pPr marL="457200" lvl="1" indent="0">
              <a:buNone/>
            </a:pPr>
            <a:r>
              <a:rPr lang="en-IN" dirty="0"/>
              <a:t>Project Part: SPA routing with React Router (including </a:t>
            </a:r>
            <a:r>
              <a:rPr lang="en-IN" dirty="0" err="1"/>
              <a:t>ProtectedRoute</a:t>
            </a:r>
            <a:r>
              <a:rPr lang="en-IN" dirty="0"/>
              <a:t>), controlled forms for activity/goal logging, and performance tuning using </a:t>
            </a:r>
            <a:r>
              <a:rPr lang="en-IN" dirty="0" err="1"/>
              <a:t>useMemo</a:t>
            </a:r>
            <a:r>
              <a:rPr lang="en-IN" dirty="0"/>
              <a:t> for chart data calculations.</a:t>
            </a:r>
          </a:p>
          <a:p>
            <a:pPr lvl="1"/>
            <a:endParaRPr lang="en-IN" dirty="0"/>
          </a:p>
          <a:p>
            <a:r>
              <a:rPr lang="en-IN" b="1" dirty="0"/>
              <a:t>CO6: Build Systems &amp; Deployment Engineering</a:t>
            </a:r>
          </a:p>
          <a:p>
            <a:pPr marL="457200" lvl="1" indent="0">
              <a:buNone/>
            </a:pPr>
            <a:r>
              <a:rPr lang="en-IN" dirty="0"/>
              <a:t>Project Part: Utilizing Vite for fast module bundling, tree-shaking, and running the optimized production build (</a:t>
            </a:r>
            <a:r>
              <a:rPr lang="en-IN" dirty="0" err="1"/>
              <a:t>npm</a:t>
            </a:r>
            <a:r>
              <a:rPr lang="en-IN" dirty="0"/>
              <a:t> run build).</a:t>
            </a:r>
          </a:p>
          <a:p>
            <a:endParaRPr lang="en-IN" dirty="0"/>
          </a:p>
        </p:txBody>
      </p:sp>
    </p:spTree>
    <p:extLst>
      <p:ext uri="{BB962C8B-B14F-4D97-AF65-F5344CB8AC3E}">
        <p14:creationId xmlns:p14="http://schemas.microsoft.com/office/powerpoint/2010/main" val="202529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381000" y="1249362"/>
            <a:ext cx="8229600" cy="5334000"/>
          </a:xfrm>
        </p:spPr>
        <p:txBody>
          <a:bodyPr>
            <a:normAutofit fontScale="92500"/>
          </a:bodyPr>
          <a:lstStyle/>
          <a:p>
            <a:pPr algn="l">
              <a:lnSpc>
                <a:spcPct val="115000"/>
              </a:lnSpc>
              <a:spcBef>
                <a:spcPts val="200"/>
              </a:spcBef>
            </a:pPr>
            <a:r>
              <a:rPr lang="en-US" sz="1600" dirty="0">
                <a:latin typeface="Times New Roman" pitchFamily="18" charset="0"/>
              </a:rPr>
              <a:t>            The Student Wellness &amp; Fitness Tracker is a web-based application designed to help students maintain a healthy and balanced lifestyle alongside their academic responsibilities. In today’s fast-paced academic environment, students often neglect essential aspects of well-being such as regular physical activity, proper sleep, and adequate hydration.</a:t>
            </a:r>
          </a:p>
          <a:p>
            <a:pPr algn="l">
              <a:lnSpc>
                <a:spcPct val="115000"/>
              </a:lnSpc>
              <a:spcBef>
                <a:spcPts val="200"/>
              </a:spcBef>
            </a:pPr>
            <a:r>
              <a:rPr lang="en-US" sz="1600" dirty="0">
                <a:latin typeface="Times New Roman" pitchFamily="18" charset="0"/>
              </a:rPr>
              <a:t>            This project proposes a centralized digital platform where students can track key wellness parameters including physical activities, sleep patterns, and water intake. Users can set personal fitness goals, view their progress through interactive charts, and analyse performance over time. A wellness score is generated based on user inputs, providing a quick overview of overall health status.</a:t>
            </a:r>
          </a:p>
          <a:p>
            <a:pPr algn="l">
              <a:lnSpc>
                <a:spcPct val="115000"/>
              </a:lnSpc>
              <a:spcBef>
                <a:spcPts val="200"/>
              </a:spcBef>
            </a:pPr>
            <a:r>
              <a:rPr lang="en-US" sz="1600" dirty="0">
                <a:latin typeface="Times New Roman" pitchFamily="18" charset="0"/>
              </a:rPr>
              <a:t>            Features like peer challenges and notifications are included to motivate users and promote consistency. The application is developed using modern web technologies: HTML5, CSS3, JavaScript, React.js, Node.js, and Express.js. Data is stored using LocalStorage and a JSON-based backend database. The system implements 12 functional modules with 30+ REST API endpoints, a composite wellness scoring algorithm, and role-based access for students and administrators.</a:t>
            </a:r>
          </a:p>
          <a:p>
            <a:pPr marL="0" indent="0" algn="l">
              <a:lnSpc>
                <a:spcPct val="115000"/>
              </a:lnSpc>
              <a:spcBef>
                <a:spcPts val="200"/>
              </a:spcBef>
              <a:buNone/>
            </a:pPr>
            <a:endParaRPr lang="en-US" sz="1800" dirty="0">
              <a:latin typeface="Times New Roman" pitchFamily="18" charset="0"/>
            </a:endParaRPr>
          </a:p>
          <a:p>
            <a:pPr algn="l">
              <a:lnSpc>
                <a:spcPct val="115000"/>
              </a:lnSpc>
              <a:spcBef>
                <a:spcPts val="200"/>
              </a:spcBef>
            </a:pPr>
            <a:r>
              <a:rPr lang="en-US" sz="1800" b="1" dirty="0">
                <a:solidFill>
                  <a:srgbClr val="0070C0"/>
                </a:solidFill>
                <a:latin typeface="Times New Roman" pitchFamily="18" charset="0"/>
              </a:rPr>
              <a:t>Domain: </a:t>
            </a:r>
            <a:r>
              <a:rPr lang="en-US" sz="1800" dirty="0">
                <a:latin typeface="Times New Roman" pitchFamily="18" charset="0"/>
              </a:rPr>
              <a:t>Education </a:t>
            </a:r>
          </a:p>
          <a:p>
            <a:pPr algn="l">
              <a:lnSpc>
                <a:spcPct val="115000"/>
              </a:lnSpc>
              <a:spcBef>
                <a:spcPts val="200"/>
              </a:spcBef>
            </a:pPr>
            <a:r>
              <a:rPr lang="en-US" sz="1800" b="1" dirty="0">
                <a:solidFill>
                  <a:srgbClr val="0070C0"/>
                </a:solidFill>
                <a:latin typeface="Times New Roman" pitchFamily="18" charset="0"/>
              </a:rPr>
              <a:t>Difficulty: </a:t>
            </a:r>
            <a:r>
              <a:rPr lang="en-US" sz="1800" dirty="0">
                <a:latin typeface="Times New Roman" pitchFamily="18" charset="0"/>
              </a:rPr>
              <a:t>Intermediate </a:t>
            </a:r>
          </a:p>
          <a:p>
            <a:pPr algn="l">
              <a:lnSpc>
                <a:spcPct val="115000"/>
              </a:lnSpc>
              <a:spcBef>
                <a:spcPts val="200"/>
              </a:spcBef>
            </a:pPr>
            <a:r>
              <a:rPr lang="en-US" sz="1800" b="1" dirty="0">
                <a:solidFill>
                  <a:srgbClr val="0070C0"/>
                </a:solidFill>
                <a:latin typeface="Times New Roman" pitchFamily="18" charset="0"/>
              </a:rPr>
              <a:t>Problem No: </a:t>
            </a:r>
            <a:r>
              <a:rPr lang="en-US" sz="1800" dirty="0">
                <a:latin typeface="Times New Roman" pitchFamily="18" charset="0"/>
              </a:rPr>
              <a:t>139 </a:t>
            </a:r>
          </a:p>
          <a:p>
            <a:pPr algn="l">
              <a:lnSpc>
                <a:spcPct val="115000"/>
              </a:lnSpc>
              <a:spcBef>
                <a:spcPts val="200"/>
              </a:spcBef>
            </a:pPr>
            <a:r>
              <a:rPr lang="en-US" sz="1800" b="1" dirty="0">
                <a:solidFill>
                  <a:srgbClr val="0070C0"/>
                </a:solidFill>
                <a:latin typeface="Times New Roman" pitchFamily="18" charset="0"/>
              </a:rPr>
              <a:t>Type: </a:t>
            </a:r>
            <a:r>
              <a:rPr lang="en-US" sz="1800" dirty="0">
                <a:latin typeface="Times New Roman" pitchFamily="18" charset="0"/>
              </a:rPr>
              <a:t>Full-Stack Web Application (SPA)</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457200" y="1295400"/>
            <a:ext cx="8229600" cy="5287961"/>
          </a:xfrm>
        </p:spPr>
        <p:txBody>
          <a:bodyPr>
            <a:normAutofit fontScale="92500" lnSpcReduction="10000"/>
          </a:bodyPr>
          <a:lstStyle/>
          <a:p>
            <a:pPr marL="0" indent="0" algn="l">
              <a:lnSpc>
                <a:spcPct val="115000"/>
              </a:lnSpc>
              <a:spcBef>
                <a:spcPts val="300"/>
              </a:spcBef>
              <a:buNone/>
            </a:pPr>
            <a:r>
              <a:rPr lang="en-US" sz="1900" b="1" dirty="0">
                <a:solidFill>
                  <a:srgbClr val="0070C0"/>
                </a:solidFill>
                <a:latin typeface="Times New Roman" pitchFamily="18" charset="0"/>
              </a:rPr>
              <a:t>Project Overview</a:t>
            </a:r>
          </a:p>
          <a:p>
            <a:pPr marL="342900" indent="-360000" algn="l">
              <a:lnSpc>
                <a:spcPct val="115000"/>
              </a:lnSpc>
              <a:spcBef>
                <a:spcPts val="100"/>
              </a:spcBef>
              <a:buChar char="•"/>
            </a:pPr>
            <a:r>
              <a:rPr lang="en-US" sz="1700" dirty="0">
                <a:latin typeface="Times New Roman" pitchFamily="18" charset="0"/>
              </a:rPr>
              <a:t>Project Name: Student Wellness &amp; Fitness Tracker</a:t>
            </a:r>
          </a:p>
          <a:p>
            <a:pPr marL="342900" indent="-360000" algn="l">
              <a:lnSpc>
                <a:spcPct val="115000"/>
              </a:lnSpc>
              <a:spcBef>
                <a:spcPts val="100"/>
              </a:spcBef>
              <a:buChar char="•"/>
            </a:pPr>
            <a:r>
              <a:rPr lang="en-US" sz="1700" dirty="0">
                <a:latin typeface="Times New Roman" pitchFamily="18" charset="0"/>
              </a:rPr>
              <a:t>Type: Full-Stack Web Application (Single Page Application)</a:t>
            </a:r>
          </a:p>
          <a:p>
            <a:pPr marL="342900" indent="-360000" algn="l">
              <a:lnSpc>
                <a:spcPct val="115000"/>
              </a:lnSpc>
              <a:spcBef>
                <a:spcPts val="100"/>
              </a:spcBef>
              <a:buChar char="•"/>
            </a:pPr>
            <a:r>
              <a:rPr lang="en-US" sz="1700" dirty="0">
                <a:latin typeface="Times New Roman" pitchFamily="18" charset="0"/>
              </a:rPr>
              <a:t>Purpose: A student-facing wellness dashboard to track physical activity, sleep, hydration, and compute a composite wellness score</a:t>
            </a:r>
          </a:p>
          <a:p>
            <a:pPr marL="342900" indent="-360000" algn="l">
              <a:lnSpc>
                <a:spcPct val="115000"/>
              </a:lnSpc>
              <a:spcBef>
                <a:spcPts val="100"/>
              </a:spcBef>
              <a:buChar char="•"/>
            </a:pPr>
            <a:r>
              <a:rPr lang="en-US" sz="1700" dirty="0">
                <a:latin typeface="Times New Roman" pitchFamily="18" charset="0"/>
              </a:rPr>
              <a:t>Target Users: Students (primary) and Administrators (system management)</a:t>
            </a:r>
          </a:p>
          <a:p>
            <a:pPr marL="0" indent="0" algn="l">
              <a:lnSpc>
                <a:spcPct val="115000"/>
              </a:lnSpc>
              <a:spcBef>
                <a:spcPts val="100"/>
              </a:spcBef>
              <a:buNone/>
            </a:pPr>
            <a:endParaRPr lang="en-US" sz="170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Background &amp; Context</a:t>
            </a:r>
          </a:p>
          <a:p>
            <a:pPr marL="342900" indent="-360000" algn="l">
              <a:lnSpc>
                <a:spcPct val="115000"/>
              </a:lnSpc>
              <a:spcBef>
                <a:spcPts val="100"/>
              </a:spcBef>
              <a:buChar char="•"/>
            </a:pPr>
            <a:r>
              <a:rPr lang="en-US" sz="1700" dirty="0">
                <a:latin typeface="Times New Roman" pitchFamily="18" charset="0"/>
              </a:rPr>
              <a:t>Students face an academic-wellness gap — irregular sleep, sedentary lifestyle, inadequate hydration impact academic performance</a:t>
            </a:r>
          </a:p>
          <a:p>
            <a:pPr marL="342900" indent="-360000" algn="l">
              <a:lnSpc>
                <a:spcPct val="115000"/>
              </a:lnSpc>
              <a:spcBef>
                <a:spcPts val="100"/>
              </a:spcBef>
              <a:buChar char="•"/>
            </a:pPr>
            <a:r>
              <a:rPr lang="en-US" sz="1700" dirty="0">
                <a:latin typeface="Times New Roman" pitchFamily="18" charset="0"/>
              </a:rPr>
              <a:t>Existing solutions lack simplicity, student-focus, and combined tracking features</a:t>
            </a:r>
          </a:p>
          <a:p>
            <a:pPr marL="342900" indent="-360000" algn="l">
              <a:lnSpc>
                <a:spcPct val="115000"/>
              </a:lnSpc>
              <a:spcBef>
                <a:spcPts val="100"/>
              </a:spcBef>
              <a:buChar char="•"/>
            </a:pPr>
            <a:r>
              <a:rPr lang="en-US" sz="1700" dirty="0">
                <a:latin typeface="Times New Roman" pitchFamily="18" charset="0"/>
              </a:rPr>
              <a:t>Principle: “What gets measured gets managed” — visible wellness data empowers healthier choices</a:t>
            </a:r>
          </a:p>
          <a:p>
            <a:pPr marL="0" indent="0" algn="l">
              <a:lnSpc>
                <a:spcPct val="115000"/>
              </a:lnSpc>
              <a:spcBef>
                <a:spcPts val="100"/>
              </a:spcBef>
              <a:buNone/>
            </a:pPr>
            <a:endParaRPr lang="en-US" sz="170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Technology Stack</a:t>
            </a:r>
          </a:p>
          <a:p>
            <a:pPr marL="342900" indent="-360000" algn="l">
              <a:lnSpc>
                <a:spcPct val="115000"/>
              </a:lnSpc>
              <a:spcBef>
                <a:spcPts val="100"/>
              </a:spcBef>
              <a:buChar char="•"/>
            </a:pPr>
            <a:r>
              <a:rPr lang="en-US" sz="1700" dirty="0">
                <a:latin typeface="Times New Roman" pitchFamily="18" charset="0"/>
              </a:rPr>
              <a:t>Frontend: React.js (v18), Redux Toolkit, Tailwind CSS v4, Recharts, React Router v6, Axios</a:t>
            </a:r>
          </a:p>
          <a:p>
            <a:pPr marL="342900" indent="-360000" algn="l">
              <a:lnSpc>
                <a:spcPct val="115000"/>
              </a:lnSpc>
              <a:spcBef>
                <a:spcPts val="100"/>
              </a:spcBef>
              <a:buChar char="•"/>
            </a:pPr>
            <a:r>
              <a:rPr lang="en-US" sz="1700" dirty="0">
                <a:latin typeface="Times New Roman" pitchFamily="18" charset="0"/>
              </a:rPr>
              <a:t>Backend: Node.js, Express.js v5, JWT Authentication, bcryptjs, express-validator</a:t>
            </a:r>
          </a:p>
          <a:p>
            <a:pPr marL="342900" indent="-360000" algn="l">
              <a:lnSpc>
                <a:spcPct val="115000"/>
              </a:lnSpc>
              <a:spcBef>
                <a:spcPts val="100"/>
              </a:spcBef>
              <a:buChar char="•"/>
            </a:pPr>
            <a:r>
              <a:rPr lang="en-US" sz="1700" dirty="0">
                <a:latin typeface="Times New Roman" pitchFamily="18" charset="0"/>
              </a:rPr>
              <a:t>Tools: Postman (API Testing), Vite, LocalStorage, Visual Studio Code, Git &amp; GitHub</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381000" y="1417638"/>
            <a:ext cx="8229600" cy="5158582"/>
          </a:xfrm>
        </p:spPr>
        <p:txBody>
          <a:bodyPr>
            <a:normAutofit fontScale="85000" lnSpcReduction="10000"/>
          </a:bodyPr>
          <a:lstStyle/>
          <a:p>
            <a:pPr marL="0" indent="0" algn="l">
              <a:lnSpc>
                <a:spcPct val="115000"/>
              </a:lnSpc>
              <a:spcBef>
                <a:spcPts val="300"/>
              </a:spcBef>
              <a:buNone/>
            </a:pPr>
            <a:r>
              <a:rPr lang="en-US" sz="1900" b="1" dirty="0">
                <a:solidFill>
                  <a:srgbClr val="0070C0"/>
                </a:solidFill>
                <a:latin typeface="Times New Roman" pitchFamily="18" charset="0"/>
              </a:rPr>
              <a:t>Identified Problems</a:t>
            </a:r>
          </a:p>
          <a:p>
            <a:pPr marL="342900" indent="-360000" algn="l">
              <a:lnSpc>
                <a:spcPct val="115000"/>
              </a:lnSpc>
              <a:spcBef>
                <a:spcPts val="100"/>
              </a:spcBef>
              <a:buChar char="•"/>
            </a:pPr>
            <a:r>
              <a:rPr lang="en-US" sz="1800" dirty="0">
                <a:latin typeface="Times New Roman" pitchFamily="18" charset="0"/>
              </a:rPr>
              <a:t>Students neglect physical and mental well-being due to academic pressure and busy schedules</a:t>
            </a:r>
          </a:p>
          <a:p>
            <a:pPr marL="342900" indent="-360000" algn="l">
              <a:lnSpc>
                <a:spcPct val="115000"/>
              </a:lnSpc>
              <a:spcBef>
                <a:spcPts val="100"/>
              </a:spcBef>
              <a:buChar char="•"/>
            </a:pPr>
            <a:r>
              <a:rPr lang="en-US" sz="1800" dirty="0">
                <a:latin typeface="Times New Roman" pitchFamily="18" charset="0"/>
              </a:rPr>
              <a:t>Irregular sleep patterns lead to decreased concentration, memory retention, and academic performance</a:t>
            </a:r>
          </a:p>
          <a:p>
            <a:pPr marL="342900" indent="-360000" algn="l">
              <a:lnSpc>
                <a:spcPct val="115000"/>
              </a:lnSpc>
              <a:spcBef>
                <a:spcPts val="100"/>
              </a:spcBef>
              <a:buChar char="•"/>
            </a:pPr>
            <a:r>
              <a:rPr lang="en-US" sz="1800" dirty="0">
                <a:latin typeface="Times New Roman" pitchFamily="18" charset="0"/>
              </a:rPr>
              <a:t>Sedentary lifestyles and insufficient physical activity contribute to long-term health complications</a:t>
            </a:r>
          </a:p>
          <a:p>
            <a:pPr marL="342900" indent="-360000" algn="l">
              <a:lnSpc>
                <a:spcPct val="115000"/>
              </a:lnSpc>
              <a:spcBef>
                <a:spcPts val="100"/>
              </a:spcBef>
              <a:buChar char="•"/>
            </a:pPr>
            <a:r>
              <a:rPr lang="en-US" sz="1800" dirty="0">
                <a:latin typeface="Times New Roman" pitchFamily="18" charset="0"/>
              </a:rPr>
              <a:t>Inadequate daily hydration causes fatigue, reduced cognitive function, and poor health outcomes</a:t>
            </a:r>
          </a:p>
          <a:p>
            <a:pPr marL="342900" indent="-360000" algn="l">
              <a:lnSpc>
                <a:spcPct val="115000"/>
              </a:lnSpc>
              <a:spcBef>
                <a:spcPts val="100"/>
              </a:spcBef>
              <a:buChar char="•"/>
            </a:pPr>
            <a:r>
              <a:rPr lang="en-US" sz="1800" dirty="0">
                <a:latin typeface="Times New Roman" pitchFamily="18" charset="0"/>
              </a:rPr>
              <a:t>No unified, student-centric platform exists to monitor activity, sleep, and hydration simultaneously</a:t>
            </a:r>
          </a:p>
          <a:p>
            <a:pPr marL="0" indent="0" algn="l">
              <a:lnSpc>
                <a:spcPct val="115000"/>
              </a:lnSpc>
              <a:spcBef>
                <a:spcPts val="100"/>
              </a:spcBef>
              <a:buNone/>
            </a:pPr>
            <a:endParaRPr lang="en-US" sz="180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Gaps in Existing Solutions</a:t>
            </a:r>
          </a:p>
          <a:p>
            <a:pPr marL="342900" indent="-360000" algn="l">
              <a:lnSpc>
                <a:spcPct val="115000"/>
              </a:lnSpc>
              <a:spcBef>
                <a:spcPts val="100"/>
              </a:spcBef>
              <a:buChar char="•"/>
            </a:pPr>
            <a:r>
              <a:rPr lang="en-US" sz="1800" dirty="0">
                <a:latin typeface="Times New Roman" pitchFamily="18" charset="0"/>
              </a:rPr>
              <a:t>Generic fitness apps are not tailored to student academic schedules and college routines</a:t>
            </a:r>
          </a:p>
          <a:p>
            <a:pPr marL="342900" indent="-360000" algn="l">
              <a:lnSpc>
                <a:spcPct val="115000"/>
              </a:lnSpc>
              <a:spcBef>
                <a:spcPts val="100"/>
              </a:spcBef>
              <a:buChar char="•"/>
            </a:pPr>
            <a:r>
              <a:rPr lang="en-US" sz="1800" dirty="0">
                <a:latin typeface="Times New Roman" pitchFamily="18" charset="0"/>
              </a:rPr>
              <a:t>Lack of peer motivation and social engagement in individual tracking apps</a:t>
            </a:r>
          </a:p>
          <a:p>
            <a:pPr marL="342900" indent="-360000" algn="l">
              <a:lnSpc>
                <a:spcPct val="115000"/>
              </a:lnSpc>
              <a:spcBef>
                <a:spcPts val="100"/>
              </a:spcBef>
              <a:buChar char="•"/>
            </a:pPr>
            <a:r>
              <a:rPr lang="en-US" sz="1800" dirty="0">
                <a:latin typeface="Times New Roman" pitchFamily="18" charset="0"/>
              </a:rPr>
              <a:t>No composite wellness score that gives a single, understandable health metric</a:t>
            </a:r>
          </a:p>
          <a:p>
            <a:pPr marL="342900" indent="-360000" algn="l">
              <a:lnSpc>
                <a:spcPct val="115000"/>
              </a:lnSpc>
              <a:spcBef>
                <a:spcPts val="100"/>
              </a:spcBef>
              <a:buChar char="•"/>
            </a:pPr>
            <a:r>
              <a:rPr lang="en-US" sz="1800" dirty="0">
                <a:latin typeface="Times New Roman" pitchFamily="18" charset="0"/>
              </a:rPr>
              <a:t>Missing admin oversight for institutional wellness monitoring and student management</a:t>
            </a:r>
          </a:p>
          <a:p>
            <a:pPr marL="0" indent="0" algn="l">
              <a:lnSpc>
                <a:spcPct val="115000"/>
              </a:lnSpc>
              <a:spcBef>
                <a:spcPts val="100"/>
              </a:spcBef>
              <a:buNone/>
            </a:pPr>
            <a:endParaRPr lang="en-US" sz="180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Proposed Solution</a:t>
            </a:r>
          </a:p>
          <a:p>
            <a:pPr marL="342900" indent="-360000" algn="l">
              <a:lnSpc>
                <a:spcPct val="115000"/>
              </a:lnSpc>
              <a:spcBef>
                <a:spcPts val="100"/>
              </a:spcBef>
              <a:buChar char="•"/>
            </a:pPr>
            <a:r>
              <a:rPr lang="en-US" sz="1800" dirty="0">
                <a:latin typeface="Times New Roman" pitchFamily="18" charset="0"/>
              </a:rPr>
              <a:t>A centralized Student Wellness &amp; Fitness Tracker offering activity logging, sleep tracking, hydration monitoring, goal setting, wellness scoring, peer challenges, and notifications — all in one platform</a:t>
            </a: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a:xfrm>
            <a:off x="457200" y="1417639"/>
            <a:ext cx="8229600" cy="5165724"/>
          </a:xfrm>
        </p:spPr>
        <p:txBody>
          <a:bodyPr>
            <a:normAutofit fontScale="85000" lnSpcReduction="10000"/>
          </a:bodyPr>
          <a:lstStyle/>
          <a:p>
            <a:pPr marL="0" indent="0" algn="l">
              <a:lnSpc>
                <a:spcPct val="115000"/>
              </a:lnSpc>
              <a:spcBef>
                <a:spcPts val="300"/>
              </a:spcBef>
              <a:buNone/>
            </a:pPr>
            <a:r>
              <a:rPr lang="en-US" sz="1900" b="1" dirty="0">
                <a:solidFill>
                  <a:srgbClr val="0070C0"/>
                </a:solidFill>
                <a:latin typeface="Times New Roman" pitchFamily="18" charset="0"/>
              </a:rPr>
              <a:t>System Architecture: Client-Server Model</a:t>
            </a:r>
          </a:p>
          <a:p>
            <a:pPr algn="l">
              <a:lnSpc>
                <a:spcPct val="115000"/>
              </a:lnSpc>
              <a:spcBef>
                <a:spcPts val="200"/>
              </a:spcBef>
            </a:pPr>
            <a:r>
              <a:rPr lang="en-US" sz="1700" dirty="0">
                <a:latin typeface="Times New Roman" pitchFamily="18" charset="0"/>
              </a:rPr>
              <a:t>The application follows a layered Client-Server Architecture with clear separation of concerns:</a:t>
            </a:r>
          </a:p>
          <a:p>
            <a:pPr marL="342900" indent="-360000" algn="l">
              <a:lnSpc>
                <a:spcPct val="115000"/>
              </a:lnSpc>
              <a:spcBef>
                <a:spcPts val="100"/>
              </a:spcBef>
              <a:buChar char="•"/>
            </a:pPr>
            <a:r>
              <a:rPr lang="en-US" sz="1650" dirty="0">
                <a:latin typeface="Times New Roman" pitchFamily="18" charset="0"/>
              </a:rPr>
              <a:t>CLIENT (React SPA): Pages/Views → UI Components → Context API (Auth, Theme, Notifications) → Redux Store (Activity, Sleep, Hydration, Wellness)</a:t>
            </a:r>
          </a:p>
          <a:p>
            <a:pPr marL="342900" indent="-360000" algn="l">
              <a:lnSpc>
                <a:spcPct val="115000"/>
              </a:lnSpc>
              <a:spcBef>
                <a:spcPts val="100"/>
              </a:spcBef>
              <a:buChar char="•"/>
            </a:pPr>
            <a:r>
              <a:rPr lang="en-US" sz="1650" dirty="0">
                <a:latin typeface="Times New Roman" pitchFamily="18" charset="0"/>
              </a:rPr>
              <a:t>SERVICE LAYER: Axios HTTP Client with JWT interceptors connects frontend to backend via REST</a:t>
            </a:r>
          </a:p>
          <a:p>
            <a:pPr marL="342900" indent="-360000" algn="l">
              <a:lnSpc>
                <a:spcPct val="115000"/>
              </a:lnSpc>
              <a:spcBef>
                <a:spcPts val="100"/>
              </a:spcBef>
              <a:buChar char="•"/>
            </a:pPr>
            <a:r>
              <a:rPr lang="en-US" sz="1650" dirty="0">
                <a:latin typeface="Times New Roman" pitchFamily="18" charset="0"/>
              </a:rPr>
              <a:t>SERVER (Express.js): Middleware Chain → Controllers (Business Logic) → Database Layer (JSON File DB)</a:t>
            </a:r>
          </a:p>
          <a:p>
            <a:pPr marL="342900" indent="-360000" algn="l">
              <a:lnSpc>
                <a:spcPct val="115000"/>
              </a:lnSpc>
              <a:spcBef>
                <a:spcPts val="100"/>
              </a:spcBef>
              <a:buChar char="•"/>
            </a:pPr>
            <a:endParaRPr lang="en-US" sz="165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Application Lifecycle Flow</a:t>
            </a:r>
          </a:p>
          <a:p>
            <a:pPr marL="342900" indent="-360000" algn="l">
              <a:lnSpc>
                <a:spcPct val="115000"/>
              </a:lnSpc>
              <a:spcBef>
                <a:spcPts val="100"/>
              </a:spcBef>
              <a:buChar char="•"/>
            </a:pPr>
            <a:r>
              <a:rPr lang="en-US" sz="1650" dirty="0">
                <a:latin typeface="Times New Roman" pitchFamily="18" charset="0"/>
              </a:rPr>
              <a:t>1. User opens app → Check LocalStorage for auth token</a:t>
            </a:r>
          </a:p>
          <a:p>
            <a:pPr marL="342900" indent="-360000" algn="l">
              <a:lnSpc>
                <a:spcPct val="115000"/>
              </a:lnSpc>
              <a:spcBef>
                <a:spcPts val="100"/>
              </a:spcBef>
              <a:buChar char="•"/>
            </a:pPr>
            <a:r>
              <a:rPr lang="en-US" sz="1650" dirty="0">
                <a:latin typeface="Times New Roman" pitchFamily="18" charset="0"/>
              </a:rPr>
              <a:t>2. Token found → Auto-login → Dashboard loads with 4 parallel Redux async thunks</a:t>
            </a:r>
          </a:p>
          <a:p>
            <a:pPr marL="342900" indent="-360000" algn="l">
              <a:lnSpc>
                <a:spcPct val="115000"/>
              </a:lnSpc>
              <a:spcBef>
                <a:spcPts val="100"/>
              </a:spcBef>
              <a:buChar char="•"/>
            </a:pPr>
            <a:r>
              <a:rPr lang="en-US" sz="1650" dirty="0">
                <a:latin typeface="Times New Roman" pitchFamily="18" charset="0"/>
              </a:rPr>
              <a:t>3. No token → Login/Register → POST /api/auth → JWT returned → Stored in LocalStorage</a:t>
            </a:r>
          </a:p>
          <a:p>
            <a:pPr marL="342900" indent="-360000" algn="l">
              <a:lnSpc>
                <a:spcPct val="115000"/>
              </a:lnSpc>
              <a:spcBef>
                <a:spcPts val="100"/>
              </a:spcBef>
              <a:buChar char="•"/>
            </a:pPr>
            <a:r>
              <a:rPr lang="en-US" sz="1650" dirty="0">
                <a:latin typeface="Times New Roman" pitchFamily="18" charset="0"/>
              </a:rPr>
              <a:t>4. AuthContext updated → Dashboard renders KPI cards, quick-actions, weekly summary chart</a:t>
            </a:r>
          </a:p>
          <a:p>
            <a:pPr marL="342900" indent="-360000" algn="l">
              <a:lnSpc>
                <a:spcPct val="115000"/>
              </a:lnSpc>
              <a:spcBef>
                <a:spcPts val="100"/>
              </a:spcBef>
              <a:buChar char="•"/>
            </a:pPr>
            <a:endParaRPr lang="en-US" sz="1650" dirty="0">
              <a:latin typeface="Times New Roman" pitchFamily="18" charset="0"/>
            </a:endParaRPr>
          </a:p>
          <a:p>
            <a:pPr marL="0" indent="0" algn="l">
              <a:lnSpc>
                <a:spcPct val="115000"/>
              </a:lnSpc>
              <a:spcBef>
                <a:spcPts val="300"/>
              </a:spcBef>
              <a:buNone/>
            </a:pPr>
            <a:r>
              <a:rPr lang="en-US" sz="1900" b="1" dirty="0">
                <a:solidFill>
                  <a:srgbClr val="0070C0"/>
                </a:solidFill>
                <a:latin typeface="Times New Roman" pitchFamily="18" charset="0"/>
              </a:rPr>
              <a:t>Request-Response Flow</a:t>
            </a:r>
          </a:p>
          <a:p>
            <a:pPr marL="342900" indent="-360000" algn="l">
              <a:lnSpc>
                <a:spcPct val="115000"/>
              </a:lnSpc>
              <a:spcBef>
                <a:spcPts val="100"/>
              </a:spcBef>
              <a:buChar char="•"/>
            </a:pPr>
            <a:r>
              <a:rPr lang="en-US" sz="1650" dirty="0">
                <a:latin typeface="Times New Roman" pitchFamily="18" charset="0"/>
              </a:rPr>
              <a:t>Axios interceptor auto-attaches Authorization: Bearer &lt;JWT&gt; header on every protected request</a:t>
            </a:r>
          </a:p>
          <a:p>
            <a:pPr marL="342900" indent="-360000" algn="l">
              <a:lnSpc>
                <a:spcPct val="115000"/>
              </a:lnSpc>
              <a:spcBef>
                <a:spcPts val="100"/>
              </a:spcBef>
              <a:buChar char="•"/>
            </a:pPr>
            <a:r>
              <a:rPr lang="en-US" sz="1650" dirty="0">
                <a:latin typeface="Times New Roman" pitchFamily="18" charset="0"/>
              </a:rPr>
              <a:t>Middleware chain: CORS → JSON Parse → Auth Verify → Input Validate → Controller</a:t>
            </a:r>
          </a:p>
          <a:p>
            <a:pPr marL="342900" indent="-360000" algn="l">
              <a:lnSpc>
                <a:spcPct val="115000"/>
              </a:lnSpc>
              <a:spcBef>
                <a:spcPts val="100"/>
              </a:spcBef>
              <a:buChar char="•"/>
            </a:pPr>
            <a:r>
              <a:rPr lang="en-US" sz="1650" dirty="0">
                <a:latin typeface="Times New Roman" pitchFamily="18" charset="0"/>
              </a:rPr>
              <a:t>Standardized JSON response: { success, data, message, error } with HTTP 200/201/400/401/403/404/500</a:t>
            </a:r>
          </a:p>
          <a:p>
            <a:pPr marL="342900" indent="-360000" algn="l">
              <a:lnSpc>
                <a:spcPct val="115000"/>
              </a:lnSpc>
              <a:spcBef>
                <a:spcPts val="100"/>
              </a:spcBef>
              <a:buChar char="•"/>
            </a:pPr>
            <a:r>
              <a:rPr lang="en-US" sz="1650" dirty="0">
                <a:latin typeface="Times New Roman" pitchFamily="18" charset="0"/>
              </a:rPr>
              <a:t>401 responses trigger Axios interceptor → clears token → auto-redirects to login</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Tree>
    <p:extLst>
      <p:ext uri="{BB962C8B-B14F-4D97-AF65-F5344CB8AC3E}">
        <p14:creationId xmlns:p14="http://schemas.microsoft.com/office/powerpoint/2010/main" val="2703969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143000"/>
            <a:ext cx="8229600" cy="5562601"/>
          </a:xfrm>
        </p:spPr>
        <p:txBody>
          <a:bodyPr>
            <a:normAutofit fontScale="70000" lnSpcReduction="20000"/>
          </a:bodyPr>
          <a:lstStyle/>
          <a:p>
            <a:pPr marL="0" indent="0" algn="l">
              <a:lnSpc>
                <a:spcPct val="115000"/>
              </a:lnSpc>
              <a:spcBef>
                <a:spcPts val="300"/>
              </a:spcBef>
              <a:buNone/>
            </a:pPr>
            <a:r>
              <a:rPr lang="en-US" sz="2100" b="1" dirty="0">
                <a:solidFill>
                  <a:srgbClr val="0070C0"/>
                </a:solidFill>
                <a:latin typeface="Times New Roman" pitchFamily="18" charset="0"/>
              </a:rPr>
              <a:t>Primary Objectives</a:t>
            </a:r>
          </a:p>
          <a:p>
            <a:pPr marL="342900" indent="-360000" algn="l">
              <a:lnSpc>
                <a:spcPct val="115000"/>
              </a:lnSpc>
              <a:spcBef>
                <a:spcPts val="100"/>
              </a:spcBef>
              <a:buChar char="•"/>
            </a:pPr>
            <a:r>
              <a:rPr lang="en-US" sz="2000" dirty="0">
                <a:latin typeface="Times New Roman" pitchFamily="18" charset="0"/>
              </a:rPr>
              <a:t>Track physical activities with calorie estimation — activity data drives 30% of wellness score; motivates regular exercise</a:t>
            </a:r>
          </a:p>
          <a:p>
            <a:pPr marL="342900" indent="-360000" algn="l">
              <a:lnSpc>
                <a:spcPct val="115000"/>
              </a:lnSpc>
              <a:spcBef>
                <a:spcPts val="100"/>
              </a:spcBef>
              <a:buChar char="•"/>
            </a:pPr>
            <a:r>
              <a:rPr lang="en-US" sz="2000" dirty="0">
                <a:latin typeface="Times New Roman" pitchFamily="18" charset="0"/>
              </a:rPr>
              <a:t>Monitor sleep patterns and quality — sleep duration + quality together contribute 30 pts to wellness score</a:t>
            </a:r>
          </a:p>
          <a:p>
            <a:pPr marL="342900" indent="-360000" algn="l">
              <a:lnSpc>
                <a:spcPct val="115000"/>
              </a:lnSpc>
              <a:spcBef>
                <a:spcPts val="100"/>
              </a:spcBef>
              <a:buChar char="•"/>
            </a:pPr>
            <a:r>
              <a:rPr lang="en-US" sz="2000" dirty="0">
                <a:latin typeface="Times New Roman" pitchFamily="18" charset="0"/>
              </a:rPr>
              <a:t>Log daily hydration intake — hydration contributes 20 pts; 2500ml daily goal encourages consistent water intake</a:t>
            </a:r>
          </a:p>
          <a:p>
            <a:pPr marL="342900" indent="-360000" algn="l">
              <a:lnSpc>
                <a:spcPct val="115000"/>
              </a:lnSpc>
              <a:spcBef>
                <a:spcPts val="100"/>
              </a:spcBef>
              <a:buChar char="•"/>
            </a:pPr>
            <a:r>
              <a:rPr lang="en-US" sz="2000" dirty="0">
                <a:latin typeface="Times New Roman" pitchFamily="18" charset="0"/>
              </a:rPr>
              <a:t>Generate Composite Wellness Score (0-100) — single understandable metric simplifies health self-assessment</a:t>
            </a:r>
          </a:p>
          <a:p>
            <a:pPr marL="0" indent="0" algn="l">
              <a:lnSpc>
                <a:spcPct val="115000"/>
              </a:lnSpc>
              <a:spcBef>
                <a:spcPts val="100"/>
              </a:spcBef>
              <a:buNone/>
            </a:pPr>
            <a:endParaRPr lang="en-US" sz="1700" dirty="0">
              <a:latin typeface="Times New Roman" pitchFamily="18" charset="0"/>
            </a:endParaRPr>
          </a:p>
          <a:p>
            <a:pPr marL="0" indent="0" algn="l">
              <a:lnSpc>
                <a:spcPct val="115000"/>
              </a:lnSpc>
              <a:spcBef>
                <a:spcPts val="300"/>
              </a:spcBef>
              <a:buNone/>
            </a:pPr>
            <a:r>
              <a:rPr lang="en-US" sz="2100" b="1" dirty="0">
                <a:solidFill>
                  <a:srgbClr val="0070C0"/>
                </a:solidFill>
                <a:latin typeface="Times New Roman" pitchFamily="18" charset="0"/>
              </a:rPr>
              <a:t>Secondary Objectives</a:t>
            </a:r>
          </a:p>
          <a:p>
            <a:pPr marL="342900" indent="-360000" algn="l">
              <a:lnSpc>
                <a:spcPct val="115000"/>
              </a:lnSpc>
              <a:spcBef>
                <a:spcPts val="100"/>
              </a:spcBef>
              <a:buChar char="•"/>
            </a:pPr>
            <a:r>
              <a:rPr lang="en-US" sz="2000" dirty="0">
                <a:latin typeface="Times New Roman" pitchFamily="18" charset="0"/>
              </a:rPr>
              <a:t>Enable Goal Setting (activity, sleep, hydration, steps) — measurable targets build healthy habits and consistency</a:t>
            </a:r>
          </a:p>
          <a:p>
            <a:pPr marL="342900" indent="-360000" algn="l">
              <a:lnSpc>
                <a:spcPct val="115000"/>
              </a:lnSpc>
              <a:spcBef>
                <a:spcPts val="100"/>
              </a:spcBef>
              <a:buChar char="•"/>
            </a:pPr>
            <a:r>
              <a:rPr lang="en-US" sz="2000" dirty="0">
                <a:latin typeface="Times New Roman" pitchFamily="18" charset="0"/>
              </a:rPr>
              <a:t>Provide Progress Charts (7/14/30-day views) — visual trends motivate improvement and highlight behavior patterns</a:t>
            </a:r>
          </a:p>
          <a:p>
            <a:pPr marL="342900" indent="-360000" algn="l">
              <a:lnSpc>
                <a:spcPct val="115000"/>
              </a:lnSpc>
              <a:spcBef>
                <a:spcPts val="100"/>
              </a:spcBef>
              <a:buChar char="•"/>
            </a:pPr>
            <a:r>
              <a:rPr lang="en-US" sz="2000" dirty="0">
                <a:latin typeface="Times New Roman" pitchFamily="18" charset="0"/>
              </a:rPr>
              <a:t>Implement Peer Challenges with leaderboards — social competition adds accountability and engagement</a:t>
            </a:r>
          </a:p>
          <a:p>
            <a:pPr marL="342900" indent="-360000" algn="l">
              <a:lnSpc>
                <a:spcPct val="115000"/>
              </a:lnSpc>
              <a:spcBef>
                <a:spcPts val="100"/>
              </a:spcBef>
              <a:buChar char="•"/>
            </a:pPr>
            <a:r>
              <a:rPr lang="en-US" sz="2000" dirty="0">
                <a:latin typeface="Times New Roman" pitchFamily="18" charset="0"/>
              </a:rPr>
              <a:t>Build Notifications Centre — timely reminders reduce missed logs and maintain wellness streaks</a:t>
            </a:r>
          </a:p>
          <a:p>
            <a:pPr marL="342900" indent="-360000" algn="l">
              <a:lnSpc>
                <a:spcPct val="115000"/>
              </a:lnSpc>
              <a:spcBef>
                <a:spcPts val="100"/>
              </a:spcBef>
              <a:buChar char="•"/>
            </a:pPr>
            <a:endParaRPr lang="en-US" sz="1700" dirty="0">
              <a:latin typeface="Times New Roman" pitchFamily="18" charset="0"/>
            </a:endParaRPr>
          </a:p>
          <a:p>
            <a:pPr marL="0" indent="0" algn="l">
              <a:lnSpc>
                <a:spcPct val="115000"/>
              </a:lnSpc>
              <a:spcBef>
                <a:spcPts val="300"/>
              </a:spcBef>
              <a:buNone/>
            </a:pPr>
            <a:r>
              <a:rPr lang="en-US" sz="2100" b="1" dirty="0">
                <a:solidFill>
                  <a:srgbClr val="0070C0"/>
                </a:solidFill>
                <a:latin typeface="Times New Roman" pitchFamily="18" charset="0"/>
              </a:rPr>
              <a:t>Administrative Objective</a:t>
            </a:r>
          </a:p>
          <a:p>
            <a:pPr marL="342900" indent="-360000" algn="l">
              <a:lnSpc>
                <a:spcPct val="115000"/>
              </a:lnSpc>
              <a:spcBef>
                <a:spcPts val="100"/>
              </a:spcBef>
              <a:buChar char="•"/>
            </a:pPr>
            <a:r>
              <a:rPr lang="en-US" sz="2000" dirty="0">
                <a:latin typeface="Times New Roman" pitchFamily="18" charset="0"/>
              </a:rPr>
              <a:t>Secure Admin Panel — user management, data monitoring, and broadcast notifications for institutional oversight</a:t>
            </a:r>
          </a:p>
          <a:p>
            <a:pPr marL="0" indent="0" algn="l">
              <a:lnSpc>
                <a:spcPct val="115000"/>
              </a:lnSpc>
              <a:spcBef>
                <a:spcPts val="300"/>
              </a:spcBef>
              <a:buNone/>
            </a:pPr>
            <a:endParaRPr lang="en-US" sz="1900" b="1" dirty="0">
              <a:solidFill>
                <a:srgbClr val="0070C0"/>
              </a:solidFill>
              <a:latin typeface="Times New Roman" pitchFamily="18" charset="0"/>
            </a:endParaRPr>
          </a:p>
          <a:p>
            <a:pPr marL="0" indent="0" algn="l">
              <a:lnSpc>
                <a:spcPct val="115000"/>
              </a:lnSpc>
              <a:spcBef>
                <a:spcPts val="300"/>
              </a:spcBef>
              <a:buNone/>
            </a:pPr>
            <a:r>
              <a:rPr lang="en-US" sz="2100" b="1" dirty="0">
                <a:solidFill>
                  <a:srgbClr val="0070C0"/>
                </a:solidFill>
                <a:latin typeface="Times New Roman" pitchFamily="18" charset="0"/>
              </a:rPr>
              <a:t>Technical Objective</a:t>
            </a:r>
          </a:p>
          <a:p>
            <a:pPr marL="342900" indent="-360000" algn="l">
              <a:lnSpc>
                <a:spcPct val="115000"/>
              </a:lnSpc>
              <a:spcBef>
                <a:spcPts val="100"/>
              </a:spcBef>
              <a:buChar char="•"/>
            </a:pPr>
            <a:r>
              <a:rPr lang="en-US" sz="2000" dirty="0">
                <a:latin typeface="Times New Roman" pitchFamily="18" charset="0"/>
              </a:rPr>
              <a:t>12 modules, 30+ REST API endpoints, JWT + RBAC security, Postman-tested — production-quality codebase aligned with FEDF curriculum requirements</a:t>
            </a:r>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295400" y="64643"/>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381000" y="838200"/>
            <a:ext cx="8229600" cy="5824094"/>
          </a:xfrm>
        </p:spPr>
        <p:txBody>
          <a:bodyPr>
            <a:noAutofit/>
          </a:bodyPr>
          <a:lstStyle/>
          <a:p>
            <a:pPr marL="0" indent="0" algn="l">
              <a:lnSpc>
                <a:spcPct val="115000"/>
              </a:lnSpc>
              <a:spcBef>
                <a:spcPts val="300"/>
              </a:spcBef>
              <a:buNone/>
            </a:pPr>
            <a:r>
              <a:rPr lang="en-US" sz="1300" b="1" dirty="0">
                <a:solidFill>
                  <a:srgbClr val="0070C0"/>
                </a:solidFill>
                <a:latin typeface="Times New Roman" pitchFamily="18" charset="0"/>
              </a:rPr>
              <a:t>Module 1: Authentication &amp; Authorization</a:t>
            </a:r>
          </a:p>
          <a:p>
            <a:pPr marL="342900" indent="-360000" algn="l">
              <a:lnSpc>
                <a:spcPct val="115000"/>
              </a:lnSpc>
              <a:spcBef>
                <a:spcPts val="100"/>
              </a:spcBef>
              <a:buChar char="•"/>
            </a:pPr>
            <a:r>
              <a:rPr lang="en-US" sz="1200" dirty="0">
                <a:latin typeface="Times New Roman" pitchFamily="18" charset="0"/>
              </a:rPr>
              <a:t>Registration, Login/Logout, JWT sessions, role-based access control, protected routes, user profile management</a:t>
            </a:r>
          </a:p>
          <a:p>
            <a:pPr marL="0" indent="0" algn="l">
              <a:lnSpc>
                <a:spcPct val="115000"/>
              </a:lnSpc>
              <a:spcBef>
                <a:spcPts val="300"/>
              </a:spcBef>
              <a:buNone/>
            </a:pPr>
            <a:r>
              <a:rPr lang="en-US" sz="1300" b="1" dirty="0">
                <a:solidFill>
                  <a:srgbClr val="0070C0"/>
                </a:solidFill>
                <a:latin typeface="Times New Roman" pitchFamily="18" charset="0"/>
              </a:rPr>
              <a:t>Module 2: Dashboard / Home Screen</a:t>
            </a:r>
          </a:p>
          <a:p>
            <a:pPr marL="342900" indent="-360000" algn="l">
              <a:lnSpc>
                <a:spcPct val="115000"/>
              </a:lnSpc>
              <a:spcBef>
                <a:spcPts val="100"/>
              </a:spcBef>
              <a:buChar char="•"/>
            </a:pPr>
            <a:r>
              <a:rPr lang="en-US" sz="1200" dirty="0">
                <a:latin typeface="Times New Roman" pitchFamily="18" charset="0"/>
              </a:rPr>
              <a:t>4 KPI cards (Activity, Sleep, Water, Wellness Score), quick-action buttons, weekly summary bar chart</a:t>
            </a:r>
          </a:p>
          <a:p>
            <a:pPr marL="0" indent="0" algn="l">
              <a:lnSpc>
                <a:spcPct val="115000"/>
              </a:lnSpc>
              <a:spcBef>
                <a:spcPts val="300"/>
              </a:spcBef>
              <a:buNone/>
            </a:pPr>
            <a:r>
              <a:rPr lang="en-US" sz="1300" b="1" dirty="0">
                <a:solidFill>
                  <a:srgbClr val="0070C0"/>
                </a:solidFill>
                <a:latin typeface="Times New Roman" pitchFamily="18" charset="0"/>
              </a:rPr>
              <a:t>Module 3: Activity Log</a:t>
            </a:r>
          </a:p>
          <a:p>
            <a:pPr marL="342900" indent="-360000" algn="l">
              <a:lnSpc>
                <a:spcPct val="115000"/>
              </a:lnSpc>
              <a:spcBef>
                <a:spcPts val="100"/>
              </a:spcBef>
              <a:buChar char="•"/>
            </a:pPr>
            <a:r>
              <a:rPr lang="en-US" sz="1200" dirty="0">
                <a:latin typeface="Times New Roman" pitchFamily="18" charset="0"/>
              </a:rPr>
              <a:t>Log activity types (Walk, Run, Cycle, Gym, Yoga), auto calorie calculation, sortable/filterable table with pagination</a:t>
            </a:r>
          </a:p>
          <a:p>
            <a:pPr marL="0" indent="0" algn="l">
              <a:lnSpc>
                <a:spcPct val="115000"/>
              </a:lnSpc>
              <a:spcBef>
                <a:spcPts val="300"/>
              </a:spcBef>
              <a:buNone/>
            </a:pPr>
            <a:r>
              <a:rPr lang="en-US" sz="1300" b="1" dirty="0">
                <a:solidFill>
                  <a:srgbClr val="0070C0"/>
                </a:solidFill>
                <a:latin typeface="Times New Roman" pitchFamily="18" charset="0"/>
              </a:rPr>
              <a:t>Module 4: Sleep Tracker</a:t>
            </a:r>
          </a:p>
          <a:p>
            <a:pPr marL="342900" indent="-360000" algn="l">
              <a:lnSpc>
                <a:spcPct val="115000"/>
              </a:lnSpc>
              <a:spcBef>
                <a:spcPts val="100"/>
              </a:spcBef>
              <a:buChar char="•"/>
            </a:pPr>
            <a:r>
              <a:rPr lang="en-US" sz="1200" dirty="0">
                <a:latin typeface="Times New Roman" pitchFamily="18" charset="0"/>
              </a:rPr>
              <a:t>Bedtime/wake-time input, star quality rating (1-5), auto duration calculation, 7-day trend line chart (hours + quality)</a:t>
            </a:r>
          </a:p>
          <a:p>
            <a:pPr marL="0" indent="0" algn="l">
              <a:lnSpc>
                <a:spcPct val="115000"/>
              </a:lnSpc>
              <a:spcBef>
                <a:spcPts val="300"/>
              </a:spcBef>
              <a:buNone/>
            </a:pPr>
            <a:r>
              <a:rPr lang="en-US" sz="1300" b="1" dirty="0">
                <a:solidFill>
                  <a:srgbClr val="0070C0"/>
                </a:solidFill>
                <a:latin typeface="Times New Roman" pitchFamily="18" charset="0"/>
              </a:rPr>
              <a:t>Module 5: Hydration Tracker</a:t>
            </a:r>
          </a:p>
          <a:p>
            <a:pPr marL="342900" indent="-360000" algn="l">
              <a:lnSpc>
                <a:spcPct val="115000"/>
              </a:lnSpc>
              <a:spcBef>
                <a:spcPts val="100"/>
              </a:spcBef>
              <a:buChar char="•"/>
            </a:pPr>
            <a:r>
              <a:rPr lang="en-US" sz="1200" dirty="0">
                <a:latin typeface="Times New Roman" pitchFamily="18" charset="0"/>
              </a:rPr>
              <a:t>Quick-add presets (+250/500/750ml), circular RadialBarChart progress, custom amount input, daily goal tracking (2500ml)</a:t>
            </a:r>
          </a:p>
          <a:p>
            <a:pPr marL="0" indent="0" algn="l">
              <a:lnSpc>
                <a:spcPct val="115000"/>
              </a:lnSpc>
              <a:spcBef>
                <a:spcPts val="300"/>
              </a:spcBef>
              <a:buNone/>
            </a:pPr>
            <a:r>
              <a:rPr lang="en-US" sz="1300" b="1" dirty="0">
                <a:solidFill>
                  <a:srgbClr val="0070C0"/>
                </a:solidFill>
                <a:latin typeface="Times New Roman" pitchFamily="18" charset="0"/>
              </a:rPr>
              <a:t>Module 6: Wellness Score</a:t>
            </a:r>
          </a:p>
          <a:p>
            <a:pPr marL="342900" indent="-360000" algn="l">
              <a:lnSpc>
                <a:spcPct val="115000"/>
              </a:lnSpc>
              <a:spcBef>
                <a:spcPts val="100"/>
              </a:spcBef>
              <a:buChar char="•"/>
            </a:pPr>
            <a:r>
              <a:rPr lang="en-US" sz="1200" dirty="0">
                <a:latin typeface="Times New Roman" pitchFamily="18" charset="0"/>
              </a:rPr>
              <a:t>Composite 0-100 score: Activity (30pts) + Sleep (30pts) + Hydration (20pts) + Consistency (20pts); 30-day history chart</a:t>
            </a:r>
          </a:p>
          <a:p>
            <a:pPr marL="0" indent="0" algn="l">
              <a:lnSpc>
                <a:spcPct val="115000"/>
              </a:lnSpc>
              <a:spcBef>
                <a:spcPts val="300"/>
              </a:spcBef>
              <a:buNone/>
            </a:pPr>
            <a:r>
              <a:rPr lang="en-US" sz="1300" b="1" dirty="0">
                <a:solidFill>
                  <a:srgbClr val="0070C0"/>
                </a:solidFill>
                <a:latin typeface="Times New Roman" pitchFamily="18" charset="0"/>
              </a:rPr>
              <a:t>Module 7: Goal Setter</a:t>
            </a:r>
          </a:p>
          <a:p>
            <a:pPr marL="342900" indent="-360000" algn="l">
              <a:lnSpc>
                <a:spcPct val="115000"/>
              </a:lnSpc>
              <a:spcBef>
                <a:spcPts val="100"/>
              </a:spcBef>
              <a:buChar char="•"/>
            </a:pPr>
            <a:r>
              <a:rPr lang="en-US" sz="1200" dirty="0">
                <a:latin typeface="Times New Roman" pitchFamily="18" charset="0"/>
              </a:rPr>
              <a:t>Set and edit weekly activity, nightly sleep, daily hydration, and daily steps goals; view mode with color-coded cards</a:t>
            </a:r>
          </a:p>
          <a:p>
            <a:pPr marL="0" indent="0" algn="l">
              <a:lnSpc>
                <a:spcPct val="115000"/>
              </a:lnSpc>
              <a:spcBef>
                <a:spcPts val="300"/>
              </a:spcBef>
              <a:buNone/>
            </a:pPr>
            <a:r>
              <a:rPr lang="en-US" sz="1300" b="1" dirty="0">
                <a:solidFill>
                  <a:srgbClr val="0070C0"/>
                </a:solidFill>
                <a:latin typeface="Times New Roman" pitchFamily="18" charset="0"/>
              </a:rPr>
              <a:t>Module 8: Progress Charts</a:t>
            </a:r>
          </a:p>
          <a:p>
            <a:pPr marL="342900" indent="-360000" algn="l">
              <a:lnSpc>
                <a:spcPct val="115000"/>
              </a:lnSpc>
              <a:spcBef>
                <a:spcPts val="100"/>
              </a:spcBef>
              <a:buChar char="•"/>
            </a:pPr>
            <a:r>
              <a:rPr lang="en-US" sz="1200" dirty="0">
                <a:latin typeface="Times New Roman" pitchFamily="18" charset="0"/>
              </a:rPr>
              <a:t>4 responsive charts (Bar, Line, Area, Line) for Activity, Sleep, Hydration, Wellness — 7/14/30-day range selector</a:t>
            </a:r>
          </a:p>
          <a:p>
            <a:pPr marL="0" indent="0" algn="l">
              <a:lnSpc>
                <a:spcPct val="115000"/>
              </a:lnSpc>
              <a:spcBef>
                <a:spcPts val="300"/>
              </a:spcBef>
              <a:buNone/>
            </a:pPr>
            <a:r>
              <a:rPr lang="en-US" sz="1300" b="1" dirty="0">
                <a:solidFill>
                  <a:srgbClr val="0070C0"/>
                </a:solidFill>
                <a:latin typeface="Times New Roman" pitchFamily="18" charset="0"/>
              </a:rPr>
              <a:t>Module 9: Peer Challenges</a:t>
            </a:r>
          </a:p>
          <a:p>
            <a:pPr marL="342900" indent="-360000" algn="l">
              <a:lnSpc>
                <a:spcPct val="115000"/>
              </a:lnSpc>
              <a:spcBef>
                <a:spcPts val="100"/>
              </a:spcBef>
              <a:buChar char="•"/>
            </a:pPr>
            <a:r>
              <a:rPr lang="en-US" sz="1200" dirty="0">
                <a:latin typeface="Times New Roman" pitchFamily="18" charset="0"/>
              </a:rPr>
              <a:t>Create challenges, invite peers by email, leaderboard rankings, countdown timers, accept/decline invitations</a:t>
            </a:r>
          </a:p>
          <a:p>
            <a:pPr marL="0" indent="0" algn="l">
              <a:lnSpc>
                <a:spcPct val="115000"/>
              </a:lnSpc>
              <a:spcBef>
                <a:spcPts val="300"/>
              </a:spcBef>
              <a:buNone/>
            </a:pPr>
            <a:r>
              <a:rPr lang="en-US" sz="1300" b="1" dirty="0">
                <a:solidFill>
                  <a:srgbClr val="0070C0"/>
                </a:solidFill>
                <a:latin typeface="Times New Roman" pitchFamily="18" charset="0"/>
              </a:rPr>
              <a:t>Module 10: Notifications</a:t>
            </a:r>
          </a:p>
          <a:p>
            <a:pPr marL="342900" indent="-360000" algn="l">
              <a:lnSpc>
                <a:spcPct val="115000"/>
              </a:lnSpc>
              <a:spcBef>
                <a:spcPts val="100"/>
              </a:spcBef>
              <a:buChar char="•"/>
            </a:pPr>
            <a:r>
              <a:rPr lang="en-US" sz="1200" dirty="0">
                <a:latin typeface="Times New Roman" pitchFamily="18" charset="0"/>
              </a:rPr>
              <a:t>Bell icon with unread badge, notification centre, toast alerts (auto-dismiss 4s), 30-second server polling</a:t>
            </a:r>
          </a:p>
          <a:p>
            <a:pPr marL="0" indent="0" algn="l">
              <a:lnSpc>
                <a:spcPct val="115000"/>
              </a:lnSpc>
              <a:spcBef>
                <a:spcPts val="300"/>
              </a:spcBef>
              <a:buNone/>
            </a:pPr>
            <a:r>
              <a:rPr lang="en-US" sz="1300" b="1" dirty="0">
                <a:solidFill>
                  <a:srgbClr val="0070C0"/>
                </a:solidFill>
                <a:latin typeface="Times New Roman" pitchFamily="18" charset="0"/>
              </a:rPr>
              <a:t>Module 11: History</a:t>
            </a:r>
          </a:p>
          <a:p>
            <a:pPr marL="342900" indent="-360000" algn="l">
              <a:lnSpc>
                <a:spcPct val="115000"/>
              </a:lnSpc>
              <a:spcBef>
                <a:spcPts val="100"/>
              </a:spcBef>
              <a:buChar char="•"/>
            </a:pPr>
            <a:r>
              <a:rPr lang="en-US" sz="1200" dirty="0">
                <a:latin typeface="Times New Roman" pitchFamily="18" charset="0"/>
              </a:rPr>
              <a:t>Unified tabbed view (All/Activity/Sleep/Hydration), text search, date-range filter, pagination, CSV export</a:t>
            </a:r>
          </a:p>
          <a:p>
            <a:pPr marL="0" indent="0" algn="l">
              <a:lnSpc>
                <a:spcPct val="115000"/>
              </a:lnSpc>
              <a:spcBef>
                <a:spcPts val="300"/>
              </a:spcBef>
              <a:buNone/>
            </a:pPr>
            <a:r>
              <a:rPr lang="en-US" sz="1300" b="1" dirty="0">
                <a:solidFill>
                  <a:srgbClr val="0070C0"/>
                </a:solidFill>
                <a:latin typeface="Times New Roman" pitchFamily="18" charset="0"/>
              </a:rPr>
              <a:t>Module 12: Admin Panel</a:t>
            </a:r>
          </a:p>
          <a:p>
            <a:pPr marL="342900" indent="-360000" algn="l">
              <a:lnSpc>
                <a:spcPct val="115000"/>
              </a:lnSpc>
              <a:spcBef>
                <a:spcPts val="100"/>
              </a:spcBef>
              <a:buChar char="•"/>
            </a:pPr>
            <a:r>
              <a:rPr lang="en-US" sz="1200" dirty="0">
                <a:latin typeface="Times New Roman" pitchFamily="18" charset="0"/>
              </a:rPr>
              <a:t>System KPI cards, user management (activate/deactivate/delete), broadcast notifications to all users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14856"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4152" y="1143000"/>
            <a:ext cx="8229600" cy="5440362"/>
          </a:xfrm>
        </p:spPr>
        <p:txBody>
          <a:bodyPr>
            <a:normAutofit/>
          </a:bodyPr>
          <a:lstStyle/>
          <a:p>
            <a:pPr marL="0" indent="0" algn="l">
              <a:lnSpc>
                <a:spcPct val="115000"/>
              </a:lnSpc>
              <a:spcBef>
                <a:spcPts val="300"/>
              </a:spcBef>
              <a:buNone/>
            </a:pPr>
            <a:r>
              <a:rPr lang="en-US" sz="1600" b="1" dirty="0">
                <a:solidFill>
                  <a:srgbClr val="0070C0"/>
                </a:solidFill>
                <a:latin typeface="Times New Roman" pitchFamily="18" charset="0"/>
              </a:rPr>
              <a:t>Functional Outcomes</a:t>
            </a:r>
          </a:p>
          <a:p>
            <a:pPr marL="342900" indent="-360000" algn="l">
              <a:lnSpc>
                <a:spcPct val="115000"/>
              </a:lnSpc>
              <a:spcBef>
                <a:spcPts val="100"/>
              </a:spcBef>
              <a:buChar char="•"/>
            </a:pPr>
            <a:r>
              <a:rPr lang="en-US" sz="1300" dirty="0">
                <a:latin typeface="Times New Roman" pitchFamily="18" charset="0"/>
              </a:rPr>
              <a:t>Fully functional Student Wellness &amp; Fitness Tracker with 12 modules and 30+ REST API endpoints</a:t>
            </a:r>
          </a:p>
          <a:p>
            <a:pPr marL="342900" indent="-360000" algn="l">
              <a:lnSpc>
                <a:spcPct val="115000"/>
              </a:lnSpc>
              <a:spcBef>
                <a:spcPts val="100"/>
              </a:spcBef>
              <a:buChar char="•"/>
            </a:pPr>
            <a:r>
              <a:rPr lang="en-US" sz="1300" dirty="0">
                <a:latin typeface="Times New Roman" pitchFamily="18" charset="0"/>
              </a:rPr>
              <a:t>Secure user authentication (JWT + bcrypt, 10 salt rounds) with role-based access for Students and Administrators</a:t>
            </a:r>
          </a:p>
          <a:p>
            <a:pPr marL="342900" indent="-360000" algn="l">
              <a:lnSpc>
                <a:spcPct val="115000"/>
              </a:lnSpc>
              <a:spcBef>
                <a:spcPts val="100"/>
              </a:spcBef>
              <a:buChar char="•"/>
            </a:pPr>
            <a:r>
              <a:rPr lang="en-US" sz="1300" dirty="0">
                <a:latin typeface="Times New Roman" pitchFamily="18" charset="0"/>
              </a:rPr>
              <a:t>Composite Wellness Score (0-100) dynamically computed from activity, sleep, hydration, and consistency data</a:t>
            </a:r>
          </a:p>
          <a:p>
            <a:pPr marL="342900" indent="-360000" algn="l">
              <a:lnSpc>
                <a:spcPct val="115000"/>
              </a:lnSpc>
              <a:spcBef>
                <a:spcPts val="100"/>
              </a:spcBef>
              <a:buChar char="•"/>
            </a:pPr>
            <a:r>
              <a:rPr lang="en-US" sz="1300" dirty="0">
                <a:latin typeface="Times New Roman" pitchFamily="18" charset="0"/>
              </a:rPr>
              <a:t>Interactive data visualizations: Bar, Line, Area, and Radial charts using Recharts library</a:t>
            </a:r>
          </a:p>
          <a:p>
            <a:pPr marL="342900" indent="-360000" algn="l">
              <a:lnSpc>
                <a:spcPct val="115000"/>
              </a:lnSpc>
              <a:spcBef>
                <a:spcPts val="100"/>
              </a:spcBef>
              <a:buChar char="•"/>
            </a:pPr>
            <a:r>
              <a:rPr lang="en-US" sz="1300" dirty="0">
                <a:latin typeface="Times New Roman" pitchFamily="18" charset="0"/>
              </a:rPr>
              <a:t>Peer challenge system with leaderboards, email invitations, countdown timers, and status tracking</a:t>
            </a:r>
          </a:p>
          <a:p>
            <a:pPr marL="342900" indent="-360000" algn="l">
              <a:lnSpc>
                <a:spcPct val="115000"/>
              </a:lnSpc>
              <a:spcBef>
                <a:spcPts val="100"/>
              </a:spcBef>
              <a:buChar char="•"/>
            </a:pPr>
            <a:r>
              <a:rPr lang="en-US" sz="1300" dirty="0">
                <a:latin typeface="Times New Roman" pitchFamily="18" charset="0"/>
              </a:rPr>
              <a:t>Real-time notification system with 30s polling, toast alerts, and bulk mark-as-read functionality</a:t>
            </a:r>
          </a:p>
          <a:p>
            <a:pPr marL="342900" indent="-360000" algn="l">
              <a:lnSpc>
                <a:spcPct val="115000"/>
              </a:lnSpc>
              <a:spcBef>
                <a:spcPts val="100"/>
              </a:spcBef>
              <a:buChar char="•"/>
            </a:pPr>
            <a:r>
              <a:rPr lang="en-US" sz="1300" dirty="0">
                <a:latin typeface="Times New Roman" pitchFamily="18" charset="0"/>
              </a:rPr>
              <a:t>CSV export for wellness history records with search and date-range filtering</a:t>
            </a:r>
          </a:p>
          <a:p>
            <a:pPr marL="0" indent="0" algn="l">
              <a:lnSpc>
                <a:spcPct val="115000"/>
              </a:lnSpc>
              <a:spcBef>
                <a:spcPts val="100"/>
              </a:spcBef>
              <a:buNone/>
            </a:pPr>
            <a:endParaRPr lang="en-US" sz="1200" dirty="0">
              <a:latin typeface="Times New Roman" pitchFamily="18" charset="0"/>
            </a:endParaRPr>
          </a:p>
          <a:p>
            <a:pPr marL="0" indent="0" algn="l">
              <a:lnSpc>
                <a:spcPct val="115000"/>
              </a:lnSpc>
              <a:spcBef>
                <a:spcPts val="300"/>
              </a:spcBef>
              <a:buNone/>
            </a:pPr>
            <a:r>
              <a:rPr lang="en-US" sz="1600" b="1" dirty="0">
                <a:solidFill>
                  <a:srgbClr val="0070C0"/>
                </a:solidFill>
                <a:latin typeface="Times New Roman" pitchFamily="18" charset="0"/>
              </a:rPr>
              <a:t>Technical Outcomes</a:t>
            </a:r>
          </a:p>
          <a:p>
            <a:pPr marL="342900" indent="-360000" algn="l">
              <a:lnSpc>
                <a:spcPct val="115000"/>
              </a:lnSpc>
              <a:spcBef>
                <a:spcPts val="100"/>
              </a:spcBef>
              <a:buChar char="•"/>
            </a:pPr>
            <a:r>
              <a:rPr lang="en-US" sz="1300" dirty="0">
                <a:latin typeface="Times New Roman" pitchFamily="18" charset="0"/>
              </a:rPr>
              <a:t>Responsive, accessible UI (Tailwind CSS v4) — supports mobile (&lt;1024px), tablet (1024px+), and desktop (1280px+)</a:t>
            </a:r>
          </a:p>
          <a:p>
            <a:pPr marL="342900" indent="-360000" algn="l">
              <a:lnSpc>
                <a:spcPct val="115000"/>
              </a:lnSpc>
              <a:spcBef>
                <a:spcPts val="100"/>
              </a:spcBef>
              <a:buChar char="•"/>
            </a:pPr>
            <a:r>
              <a:rPr lang="en-US" sz="1300" dirty="0">
                <a:latin typeface="Times New Roman" pitchFamily="18" charset="0"/>
              </a:rPr>
              <a:t>Clean React architecture: functional components, custom hooks, hybrid Context API + Redux Toolkit state management</a:t>
            </a:r>
          </a:p>
          <a:p>
            <a:pPr marL="342900" indent="-360000" algn="l">
              <a:lnSpc>
                <a:spcPct val="115000"/>
              </a:lnSpc>
              <a:spcBef>
                <a:spcPts val="100"/>
              </a:spcBef>
              <a:buChar char="•"/>
            </a:pPr>
            <a:r>
              <a:rPr lang="en-US" sz="1300" dirty="0">
                <a:latin typeface="Times New Roman" pitchFamily="18" charset="0"/>
              </a:rPr>
              <a:t>RESTful Express.js API with standardized JSON responses, proper HTTP status codes, and dual-layer input validation</a:t>
            </a:r>
          </a:p>
          <a:p>
            <a:pPr marL="342900" indent="-360000" algn="l">
              <a:lnSpc>
                <a:spcPct val="115000"/>
              </a:lnSpc>
              <a:spcBef>
                <a:spcPts val="100"/>
              </a:spcBef>
              <a:buChar char="•"/>
            </a:pPr>
            <a:r>
              <a:rPr lang="en-US" sz="1300" dirty="0">
                <a:latin typeface="Times New Roman" pitchFamily="18" charset="0"/>
              </a:rPr>
              <a:t>Postman collection with documented test cases for all endpoints, authentication flows, and CRUD operations</a:t>
            </a:r>
          </a:p>
          <a:p>
            <a:pPr marL="342900" indent="-360000" algn="l">
              <a:lnSpc>
                <a:spcPct val="115000"/>
              </a:lnSpc>
              <a:spcBef>
                <a:spcPts val="100"/>
              </a:spcBef>
              <a:buChar char="•"/>
            </a:pPr>
            <a:endParaRPr lang="en-US" sz="1200" dirty="0">
              <a:latin typeface="Times New Roman" pitchFamily="18" charset="0"/>
            </a:endParaRPr>
          </a:p>
          <a:p>
            <a:pPr marL="0" indent="0" algn="l">
              <a:lnSpc>
                <a:spcPct val="115000"/>
              </a:lnSpc>
              <a:spcBef>
                <a:spcPts val="300"/>
              </a:spcBef>
              <a:buNone/>
            </a:pPr>
            <a:r>
              <a:rPr lang="en-US" sz="1600" b="1" dirty="0">
                <a:solidFill>
                  <a:srgbClr val="0070C0"/>
                </a:solidFill>
                <a:latin typeface="Times New Roman" pitchFamily="18" charset="0"/>
              </a:rPr>
              <a:t>Academic Outcomes</a:t>
            </a:r>
          </a:p>
          <a:p>
            <a:pPr marL="342900" indent="-360000" algn="l">
              <a:lnSpc>
                <a:spcPct val="115000"/>
              </a:lnSpc>
              <a:spcBef>
                <a:spcPts val="100"/>
              </a:spcBef>
              <a:buChar char="•"/>
            </a:pPr>
            <a:r>
              <a:rPr lang="en-US" sz="1300" dirty="0">
                <a:latin typeface="Times New Roman" pitchFamily="18" charset="0"/>
              </a:rPr>
              <a:t>Demonstrates full mastery of FEDF curriculum: React, Node.js, REST APIs, Axios, Redux, and CSS frameworks</a:t>
            </a:r>
          </a:p>
          <a:p>
            <a:pPr marL="342900" indent="-360000" algn="l">
              <a:lnSpc>
                <a:spcPct val="115000"/>
              </a:lnSpc>
              <a:spcBef>
                <a:spcPts val="100"/>
              </a:spcBef>
              <a:buChar char="•"/>
            </a:pPr>
            <a:r>
              <a:rPr lang="en-US" sz="1300" dirty="0">
                <a:latin typeface="Times New Roman" pitchFamily="18" charset="0"/>
              </a:rPr>
              <a:t>Production-ready architecture showcasing separation of concerns and real-world development best practices</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77500" lnSpcReduction="20000"/>
          </a:bodyPr>
          <a:lstStyle/>
          <a:p>
            <a:pPr marL="0" indent="0" algn="l">
              <a:lnSpc>
                <a:spcPct val="115000"/>
              </a:lnSpc>
              <a:spcBef>
                <a:spcPts val="300"/>
              </a:spcBef>
              <a:buNone/>
            </a:pPr>
            <a:r>
              <a:rPr lang="en-US" sz="2100" b="1" dirty="0">
                <a:solidFill>
                  <a:srgbClr val="0070C0"/>
                </a:solidFill>
                <a:latin typeface="Times New Roman" pitchFamily="18" charset="0"/>
              </a:rPr>
              <a:t>Conclusion</a:t>
            </a:r>
          </a:p>
          <a:p>
            <a:pPr marL="342900" indent="-360000" algn="l">
              <a:lnSpc>
                <a:spcPct val="120000"/>
              </a:lnSpc>
              <a:spcBef>
                <a:spcPts val="100"/>
              </a:spcBef>
              <a:buChar char="•"/>
            </a:pPr>
            <a:r>
              <a:rPr lang="en-US" sz="1800" dirty="0">
                <a:latin typeface="Times New Roman" pitchFamily="18" charset="0"/>
              </a:rPr>
              <a:t>Successfully delivers a comprehensive full-stack SPA addressing the student wellness gap in academic environments</a:t>
            </a:r>
          </a:p>
          <a:p>
            <a:pPr marL="342900" indent="-360000" algn="l">
              <a:lnSpc>
                <a:spcPct val="120000"/>
              </a:lnSpc>
              <a:spcBef>
                <a:spcPts val="100"/>
              </a:spcBef>
              <a:buChar char="•"/>
            </a:pPr>
            <a:r>
              <a:rPr lang="en-US" sz="1800" dirty="0">
                <a:latin typeface="Times New Roman" pitchFamily="18" charset="0"/>
              </a:rPr>
              <a:t>Implements all 12 required modules with 30+ API endpoints, demonstrating mastery of React + Express development</a:t>
            </a:r>
          </a:p>
          <a:p>
            <a:pPr marL="342900" indent="-360000" algn="l">
              <a:lnSpc>
                <a:spcPct val="120000"/>
              </a:lnSpc>
              <a:spcBef>
                <a:spcPts val="100"/>
              </a:spcBef>
              <a:buChar char="•"/>
            </a:pPr>
            <a:r>
              <a:rPr lang="en-US" sz="1800" dirty="0">
                <a:latin typeface="Times New Roman" pitchFamily="18" charset="0"/>
              </a:rPr>
              <a:t>Achieves secure authentication (JWT + bcrypt), role-based access control, and dual-layer input validation</a:t>
            </a:r>
          </a:p>
          <a:p>
            <a:pPr marL="342900" indent="-360000" algn="l">
              <a:lnSpc>
                <a:spcPct val="120000"/>
              </a:lnSpc>
              <a:spcBef>
                <a:spcPts val="100"/>
              </a:spcBef>
              <a:buChar char="•"/>
            </a:pPr>
            <a:r>
              <a:rPr lang="en-US" sz="1800" dirty="0">
                <a:latin typeface="Times New Roman" pitchFamily="18" charset="0"/>
              </a:rPr>
              <a:t>Provides actionable health insights through an intuitive interface with composite wellness scoring and interactive charts</a:t>
            </a:r>
          </a:p>
          <a:p>
            <a:pPr marL="342900" indent="-360000" algn="l">
              <a:lnSpc>
                <a:spcPct val="120000"/>
              </a:lnSpc>
              <a:spcBef>
                <a:spcPts val="100"/>
              </a:spcBef>
              <a:buChar char="•"/>
            </a:pPr>
            <a:r>
              <a:rPr lang="en-US" sz="1800" dirty="0">
                <a:latin typeface="Times New Roman" pitchFamily="18" charset="0"/>
              </a:rPr>
              <a:t>Peer challenge system and leaderboards add social motivation; notification polling ensures timely health reminders</a:t>
            </a:r>
          </a:p>
          <a:p>
            <a:pPr marL="342900" indent="-360000" algn="l">
              <a:lnSpc>
                <a:spcPct val="120000"/>
              </a:lnSpc>
              <a:spcBef>
                <a:spcPts val="100"/>
              </a:spcBef>
              <a:buChar char="•"/>
            </a:pPr>
            <a:r>
              <a:rPr lang="en-US" sz="1800" dirty="0">
                <a:latin typeface="Times New Roman" pitchFamily="18" charset="0"/>
              </a:rPr>
              <a:t>Responsive dark-theme UI with accessibility support (ARIA labels, keyboard navigation, semantic HTML)</a:t>
            </a:r>
          </a:p>
          <a:p>
            <a:pPr marL="342900" indent="-360000" algn="l">
              <a:lnSpc>
                <a:spcPct val="115000"/>
              </a:lnSpc>
              <a:spcBef>
                <a:spcPts val="100"/>
              </a:spcBef>
              <a:buChar char="•"/>
            </a:pPr>
            <a:endParaRPr lang="en-US" sz="1800" dirty="0">
              <a:latin typeface="Times New Roman" pitchFamily="18" charset="0"/>
            </a:endParaRPr>
          </a:p>
          <a:p>
            <a:pPr marL="0" indent="0" algn="l">
              <a:lnSpc>
                <a:spcPct val="115000"/>
              </a:lnSpc>
              <a:spcBef>
                <a:spcPts val="300"/>
              </a:spcBef>
              <a:buNone/>
            </a:pPr>
            <a:r>
              <a:rPr lang="en-US" sz="2100" b="1" dirty="0">
                <a:solidFill>
                  <a:srgbClr val="0070C0"/>
                </a:solidFill>
                <a:latin typeface="Times New Roman" pitchFamily="18" charset="0"/>
              </a:rPr>
              <a:t>Future Scope</a:t>
            </a:r>
          </a:p>
          <a:p>
            <a:pPr marL="342900" indent="-360000" algn="just">
              <a:lnSpc>
                <a:spcPct val="170000"/>
              </a:lnSpc>
              <a:spcBef>
                <a:spcPts val="100"/>
              </a:spcBef>
              <a:buChar char="•"/>
            </a:pPr>
            <a:r>
              <a:rPr lang="en-US" sz="1800" dirty="0">
                <a:latin typeface="Times New Roman" pitchFamily="18" charset="0"/>
              </a:rPr>
              <a:t>MySQL / PostgreSQL database integration to replace JSON file storage for production-scale deployment</a:t>
            </a:r>
          </a:p>
          <a:p>
            <a:pPr marL="342900" indent="-360000" algn="just">
              <a:lnSpc>
                <a:spcPct val="170000"/>
              </a:lnSpc>
              <a:spcBef>
                <a:spcPts val="100"/>
              </a:spcBef>
              <a:buChar char="•"/>
            </a:pPr>
            <a:r>
              <a:rPr lang="en-US" sz="1800" dirty="0">
                <a:latin typeface="Times New Roman" pitchFamily="18" charset="0"/>
              </a:rPr>
              <a:t>Mobile application development using React Native for iOS and Android platforms</a:t>
            </a:r>
          </a:p>
          <a:p>
            <a:pPr marL="342900" indent="-360000" algn="just">
              <a:lnSpc>
                <a:spcPct val="170000"/>
              </a:lnSpc>
              <a:spcBef>
                <a:spcPts val="100"/>
              </a:spcBef>
              <a:buChar char="•"/>
            </a:pPr>
            <a:r>
              <a:rPr lang="en-US" sz="1800" dirty="0">
                <a:latin typeface="Times New Roman" pitchFamily="18" charset="0"/>
              </a:rPr>
              <a:t>Wearable device integration (Fitbit, Apple Watch, Google Fit) for automatic activity and sleep data sync</a:t>
            </a:r>
          </a:p>
          <a:p>
            <a:pPr marL="342900" indent="-360000" algn="just">
              <a:lnSpc>
                <a:spcPct val="170000"/>
              </a:lnSpc>
              <a:spcBef>
                <a:spcPts val="100"/>
              </a:spcBef>
              <a:buChar char="•"/>
            </a:pPr>
            <a:r>
              <a:rPr lang="en-US" sz="1800" dirty="0">
                <a:latin typeface="Times New Roman" pitchFamily="18" charset="0"/>
              </a:rPr>
              <a:t>AI/ML-powered personalized wellness recommendations based on historical patterns and user behavior</a:t>
            </a:r>
          </a:p>
          <a:p>
            <a:pPr marL="342900" indent="-360000" algn="just">
              <a:lnSpc>
                <a:spcPct val="170000"/>
              </a:lnSpc>
              <a:spcBef>
                <a:spcPts val="100"/>
              </a:spcBef>
              <a:buChar char="•"/>
            </a:pPr>
            <a:r>
              <a:rPr lang="en-US" sz="1800" dirty="0">
                <a:latin typeface="Times New Roman" pitchFamily="18" charset="0"/>
              </a:rPr>
              <a:t>Progressive Web App (PWA) with push notifications via Service Workers for proactive reminders</a:t>
            </a:r>
          </a:p>
          <a:p>
            <a:pPr marL="342900" indent="-360000" algn="just">
              <a:lnSpc>
                <a:spcPct val="170000"/>
              </a:lnSpc>
              <a:spcBef>
                <a:spcPts val="100"/>
              </a:spcBef>
              <a:buChar char="•"/>
            </a:pPr>
            <a:r>
              <a:rPr lang="en-US" sz="1800" dirty="0">
                <a:latin typeface="Times New Roman" pitchFamily="18" charset="0"/>
              </a:rPr>
              <a:t>Multi-institution dashboard for faculty and counselors to monitor student wellness at institutional scale</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a:xfrm>
            <a:off x="457200" y="1295400"/>
            <a:ext cx="8229600" cy="5181600"/>
          </a:xfrm>
        </p:spPr>
        <p:txBody>
          <a:bodyPr>
            <a:normAutofit lnSpcReduction="10000"/>
          </a:bodyPr>
          <a:lstStyle/>
          <a:p>
            <a:pPr marL="0" indent="0" algn="l">
              <a:lnSpc>
                <a:spcPct val="115000"/>
              </a:lnSpc>
              <a:spcBef>
                <a:spcPts val="200"/>
              </a:spcBef>
              <a:buNone/>
            </a:pPr>
            <a:r>
              <a:rPr lang="en-US" sz="1900" b="1" dirty="0">
                <a:solidFill>
                  <a:srgbClr val="0070C0"/>
                </a:solidFill>
                <a:latin typeface="Times New Roman" pitchFamily="18" charset="0"/>
              </a:rPr>
              <a:t>Technologies, Frameworks &amp; Documentation:</a:t>
            </a:r>
          </a:p>
          <a:p>
            <a:pPr marL="342900" indent="-360000" algn="l">
              <a:lnSpc>
                <a:spcPct val="115000"/>
              </a:lnSpc>
              <a:spcBef>
                <a:spcPts val="100"/>
              </a:spcBef>
              <a:buChar char="•"/>
            </a:pPr>
            <a:r>
              <a:rPr lang="en-US" sz="1700" dirty="0">
                <a:latin typeface="Times New Roman" pitchFamily="18" charset="0"/>
              </a:rPr>
              <a:t>React.js Documentation (v18+) — https://reactjs.org/docs</a:t>
            </a:r>
          </a:p>
          <a:p>
            <a:pPr marL="342900" indent="-360000" algn="l">
              <a:lnSpc>
                <a:spcPct val="115000"/>
              </a:lnSpc>
              <a:spcBef>
                <a:spcPts val="100"/>
              </a:spcBef>
              <a:buChar char="•"/>
            </a:pPr>
            <a:r>
              <a:rPr lang="en-US" sz="1700" dirty="0">
                <a:latin typeface="Times New Roman" pitchFamily="18" charset="0"/>
              </a:rPr>
              <a:t>Redux Toolkit — https://redux-toolkit.js.org/introduction/getting-started</a:t>
            </a:r>
          </a:p>
          <a:p>
            <a:pPr marL="342900" indent="-360000" algn="l">
              <a:lnSpc>
                <a:spcPct val="115000"/>
              </a:lnSpc>
              <a:spcBef>
                <a:spcPts val="100"/>
              </a:spcBef>
              <a:buChar char="•"/>
            </a:pPr>
            <a:r>
              <a:rPr lang="en-US" sz="1700" dirty="0">
                <a:latin typeface="Times New Roman" pitchFamily="18" charset="0"/>
              </a:rPr>
              <a:t>React Router v6 — https://reactrouter.com/en/main</a:t>
            </a:r>
          </a:p>
          <a:p>
            <a:pPr marL="342900" indent="-360000" algn="l">
              <a:lnSpc>
                <a:spcPct val="115000"/>
              </a:lnSpc>
              <a:spcBef>
                <a:spcPts val="100"/>
              </a:spcBef>
              <a:buChar char="•"/>
            </a:pPr>
            <a:r>
              <a:rPr lang="en-US" sz="1700" dirty="0">
                <a:latin typeface="Times New Roman" pitchFamily="18" charset="0"/>
              </a:rPr>
              <a:t>Node.js Documentation (v18+) — https://nodejs.org/en/docs</a:t>
            </a:r>
          </a:p>
          <a:p>
            <a:pPr marL="342900" indent="-360000" algn="l">
              <a:lnSpc>
                <a:spcPct val="115000"/>
              </a:lnSpc>
              <a:spcBef>
                <a:spcPts val="100"/>
              </a:spcBef>
              <a:buChar char="•"/>
            </a:pPr>
            <a:r>
              <a:rPr lang="en-US" sz="1700" dirty="0">
                <a:latin typeface="Times New Roman" pitchFamily="18" charset="0"/>
              </a:rPr>
              <a:t>Express.js v5 — https://expressjs.com/en/5x/api.html</a:t>
            </a:r>
          </a:p>
          <a:p>
            <a:pPr marL="342900" indent="-360000" algn="l">
              <a:lnSpc>
                <a:spcPct val="115000"/>
              </a:lnSpc>
              <a:spcBef>
                <a:spcPts val="100"/>
              </a:spcBef>
              <a:buChar char="•"/>
            </a:pPr>
            <a:r>
              <a:rPr lang="en-US" sz="1700" dirty="0">
                <a:latin typeface="Times New Roman" pitchFamily="18" charset="0"/>
              </a:rPr>
              <a:t>Recharts Library — https://recharts.org/en-US/api</a:t>
            </a:r>
          </a:p>
          <a:p>
            <a:pPr marL="342900" indent="-360000" algn="l">
              <a:lnSpc>
                <a:spcPct val="115000"/>
              </a:lnSpc>
              <a:spcBef>
                <a:spcPts val="100"/>
              </a:spcBef>
              <a:buChar char="•"/>
            </a:pPr>
            <a:r>
              <a:rPr lang="en-US" sz="1700" dirty="0">
                <a:latin typeface="Times New Roman" pitchFamily="18" charset="0"/>
              </a:rPr>
              <a:t>Tailwind CSS v4 — https://tailwindcss.com/docs</a:t>
            </a:r>
          </a:p>
          <a:p>
            <a:pPr marL="342900" indent="-360000" algn="l">
              <a:lnSpc>
                <a:spcPct val="115000"/>
              </a:lnSpc>
              <a:spcBef>
                <a:spcPts val="100"/>
              </a:spcBef>
              <a:buChar char="•"/>
            </a:pPr>
            <a:r>
              <a:rPr lang="en-US" sz="1700" dirty="0">
                <a:latin typeface="Times New Roman" pitchFamily="18" charset="0"/>
              </a:rPr>
              <a:t>JWT Authentication — https://jwt.io/introduction</a:t>
            </a:r>
          </a:p>
          <a:p>
            <a:pPr marL="342900" indent="-360000" algn="l">
              <a:lnSpc>
                <a:spcPct val="115000"/>
              </a:lnSpc>
              <a:spcBef>
                <a:spcPts val="100"/>
              </a:spcBef>
              <a:buChar char="•"/>
            </a:pPr>
            <a:r>
              <a:rPr lang="en-US" sz="1700" dirty="0">
                <a:latin typeface="Times New Roman" pitchFamily="18" charset="0"/>
              </a:rPr>
              <a:t>Axios HTTP Client — https://axios-http.com/docs/intro</a:t>
            </a:r>
          </a:p>
          <a:p>
            <a:pPr marL="342900" indent="-360000" algn="l">
              <a:lnSpc>
                <a:spcPct val="115000"/>
              </a:lnSpc>
              <a:spcBef>
                <a:spcPts val="100"/>
              </a:spcBef>
              <a:buChar char="•"/>
            </a:pPr>
            <a:r>
              <a:rPr lang="en-US" sz="1700" dirty="0">
                <a:latin typeface="Times New Roman" pitchFamily="18" charset="0"/>
              </a:rPr>
              <a:t>Vite Build Tool — https://vitejs.dev/guide</a:t>
            </a:r>
          </a:p>
          <a:p>
            <a:pPr marL="0" indent="0" algn="l">
              <a:lnSpc>
                <a:spcPct val="115000"/>
              </a:lnSpc>
              <a:spcBef>
                <a:spcPts val="200"/>
              </a:spcBef>
              <a:buNone/>
            </a:pPr>
            <a:endParaRPr lang="en-US" sz="1900" b="1" dirty="0">
              <a:solidFill>
                <a:srgbClr val="0070C0"/>
              </a:solidFill>
              <a:latin typeface="Times New Roman" pitchFamily="18" charset="0"/>
            </a:endParaRPr>
          </a:p>
          <a:p>
            <a:pPr marL="0" indent="0" algn="l">
              <a:lnSpc>
                <a:spcPct val="115000"/>
              </a:lnSpc>
              <a:spcBef>
                <a:spcPts val="200"/>
              </a:spcBef>
              <a:buNone/>
            </a:pPr>
            <a:r>
              <a:rPr lang="en-US" sz="1800" b="1" dirty="0">
                <a:solidFill>
                  <a:srgbClr val="0070C0"/>
                </a:solidFill>
                <a:latin typeface="Times New Roman" pitchFamily="18" charset="0"/>
              </a:rPr>
              <a:t>Course &amp; Problem Statement:</a:t>
            </a:r>
          </a:p>
          <a:p>
            <a:pPr marL="342900" indent="-360000" algn="l">
              <a:lnSpc>
                <a:spcPct val="115000"/>
              </a:lnSpc>
              <a:spcBef>
                <a:spcPts val="100"/>
              </a:spcBef>
              <a:buChar char="•"/>
            </a:pPr>
            <a:r>
              <a:rPr lang="en-US" sz="1600" dirty="0">
                <a:latin typeface="Times New Roman" pitchFamily="18" charset="0"/>
              </a:rPr>
              <a:t>Front End Development Frameworks &amp; UI Engineering (25CS1201E) — KL Hyderabad, 2025-26 Term III</a:t>
            </a:r>
          </a:p>
          <a:p>
            <a:pPr marL="342900" indent="-360000" algn="l">
              <a:lnSpc>
                <a:spcPct val="115000"/>
              </a:lnSpc>
              <a:spcBef>
                <a:spcPts val="100"/>
              </a:spcBef>
              <a:buChar char="•"/>
            </a:pPr>
            <a:r>
              <a:rPr lang="en-US" sz="1600" dirty="0">
                <a:latin typeface="Times New Roman" pitchFamily="18" charset="0"/>
              </a:rPr>
              <a:t>Problem Statement #139: Student Wellness &amp; Fitness Tracker — Domain: Education, Difficulty: Intermediate</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1880</TotalTime>
  <Words>2197</Words>
  <Application>Microsoft Office PowerPoint</Application>
  <PresentationFormat>On-screen Show (4:3)</PresentationFormat>
  <Paragraphs>204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 A Project Review Meeting    on Student Wellness &amp; Fitness Tracker</vt:lpstr>
      <vt:lpstr>Outline of the Presentation</vt:lpstr>
      <vt:lpstr>Project Mapping to Course Outcomes (Cos) </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Hasith Varma</cp:lastModifiedBy>
  <cp:revision>203</cp:revision>
  <dcterms:created xsi:type="dcterms:W3CDTF">2006-08-16T00:00:00Z</dcterms:created>
  <dcterms:modified xsi:type="dcterms:W3CDTF">2026-06-16T03:21:22Z</dcterms:modified>
</cp:coreProperties>
</file>